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d63a15ed1144e1e" /><Relationship Type="http://schemas.openxmlformats.org/officeDocument/2006/relationships/extended-properties" Target="/docProps/app.xml" Id="R086615bad8364249" /><Relationship Type="http://schemas.openxmlformats.org/officeDocument/2006/relationships/officeDocument" Target="/ppt/presentation.xml" Id="Ra32ea825651d4db1" /></Relationships>
</file>

<file path=ppt/presentation.xml><?xml version="1.0" encoding="utf-8"?>
<p:presentation xmlns:p="http://schemas.openxmlformats.org/presentationml/2006/main">
  <p:sldMasterIdLst>
    <p:sldMasterId xmlns:r="http://schemas.openxmlformats.org/officeDocument/2006/relationships" id="2147483648" r:id="R9bfbe76edf164094"/>
  </p:sldMasterIdLst>
  <p:notesMasterIdLst>
    <p:notesMasterId xmlns:r="http://schemas.openxmlformats.org/officeDocument/2006/relationships" r:id="Rb1940f342a0145a2"/>
  </p:notesMasterIdLst>
  <p:sldIdLst>
    <p:sldId xmlns:r="http://schemas.openxmlformats.org/officeDocument/2006/relationships" id="256" r:id="Rda7fbdf348024bf0"/>
    <p:sldId xmlns:r="http://schemas.openxmlformats.org/officeDocument/2006/relationships" id="257" r:id="Rd770f50724d54ca4"/>
    <p:sldId xmlns:r="http://schemas.openxmlformats.org/officeDocument/2006/relationships" id="258" r:id="R22bd4b4bc10a442a"/>
    <p:sldId xmlns:r="http://schemas.openxmlformats.org/officeDocument/2006/relationships" id="259" r:id="Rcfd260948c9a4198"/>
    <p:sldId xmlns:r="http://schemas.openxmlformats.org/officeDocument/2006/relationships" id="260" r:id="R28f0e63d7c5a4235"/>
    <p:sldId xmlns:r="http://schemas.openxmlformats.org/officeDocument/2006/relationships" id="261" r:id="R9a461ad5af0a49af"/>
    <p:sldId xmlns:r="http://schemas.openxmlformats.org/officeDocument/2006/relationships" id="262" r:id="Rad9cde2a31bd4091"/>
    <p:sldId xmlns:r="http://schemas.openxmlformats.org/officeDocument/2006/relationships" id="263" r:id="Rfa1d7bf600014db4"/>
    <p:sldId xmlns:r="http://schemas.openxmlformats.org/officeDocument/2006/relationships" id="264" r:id="R7e5a5cc28694474f"/>
    <p:sldId xmlns:r="http://schemas.openxmlformats.org/officeDocument/2006/relationships" id="265" r:id="Rb6cb73f3da654973"/>
  </p:sldIdLst>
  <p:sldSz cx="9144000" cy="5143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5c6dfc90f2994a7c" /><Relationship Type="http://schemas.openxmlformats.org/officeDocument/2006/relationships/slideMaster" Target="/ppt/slideMasters/slideMaster1.xml" Id="R9bfbe76edf164094" /><Relationship Type="http://schemas.openxmlformats.org/officeDocument/2006/relationships/notesMaster" Target="/ppt/notesMasters/notesMaster1.xml" Id="Rb1940f342a0145a2" /><Relationship Type="http://schemas.openxmlformats.org/officeDocument/2006/relationships/presProps" Target="/ppt/presProps.xml" Id="Raac38d9e30e24ec1" /><Relationship Type="http://schemas.openxmlformats.org/officeDocument/2006/relationships/viewProps" Target="/ppt/viewProps.xml" Id="Rd60f5fe6e0b240fd" /><Relationship Type="http://schemas.openxmlformats.org/officeDocument/2006/relationships/tableStyles" Target="/ppt/tableStyles.xml" Id="R760be0858289498c" /><Relationship Type="http://schemas.openxmlformats.org/officeDocument/2006/relationships/slide" Target="/ppt/slides/slide1.xml" Id="Rda7fbdf348024bf0" /><Relationship Type="http://schemas.openxmlformats.org/officeDocument/2006/relationships/slide" Target="/ppt/slides/slide2.xml" Id="Rd770f50724d54ca4" /><Relationship Type="http://schemas.openxmlformats.org/officeDocument/2006/relationships/slide" Target="/ppt/slides/slide3.xml" Id="R22bd4b4bc10a442a" /><Relationship Type="http://schemas.openxmlformats.org/officeDocument/2006/relationships/slide" Target="/ppt/slides/slide4.xml" Id="Rcfd260948c9a4198" /><Relationship Type="http://schemas.openxmlformats.org/officeDocument/2006/relationships/slide" Target="/ppt/slides/slide5.xml" Id="R28f0e63d7c5a4235" /><Relationship Type="http://schemas.openxmlformats.org/officeDocument/2006/relationships/slide" Target="/ppt/slides/slide6.xml" Id="R9a461ad5af0a49af" /><Relationship Type="http://schemas.openxmlformats.org/officeDocument/2006/relationships/slide" Target="/ppt/slides/slide7.xml" Id="Rad9cde2a31bd4091" /><Relationship Type="http://schemas.openxmlformats.org/officeDocument/2006/relationships/slide" Target="/ppt/slides/slide8.xml" Id="Rfa1d7bf600014db4" /><Relationship Type="http://schemas.openxmlformats.org/officeDocument/2006/relationships/slide" Target="/ppt/slides/slide9.xml" Id="R7e5a5cc28694474f" /><Relationship Type="http://schemas.openxmlformats.org/officeDocument/2006/relationships/slide" Target="/ppt/slides/slide10.xml" Id="Rb6cb73f3da65497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1b1aa8405894cf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6134339d87547c2" /><Relationship Type="http://schemas.openxmlformats.org/officeDocument/2006/relationships/notesMaster" Target="/ppt/notesMasters/notesMaster1.xml" Id="Rf33f43ede63147cc" /></Relationships>
</file>

<file path=ppt/notesSlides/_rels/notesSlide2.xml.rels>&#65279;<?xml version="1.0" encoding="utf-8"?><Relationships xmlns="http://schemas.openxmlformats.org/package/2006/relationships"><Relationship Type="http://schemas.openxmlformats.org/officeDocument/2006/relationships/slide" Target="/ppt/slides/slide2.xml" Id="Re53111f5a1144f3d" /><Relationship Type="http://schemas.openxmlformats.org/officeDocument/2006/relationships/notesMaster" Target="/ppt/notesMasters/notesMaster1.xml" Id="R1c382a09a2ad4d99" /></Relationships>
</file>

<file path=ppt/notesSlides/_rels/notesSlide3.xml.rels>&#65279;<?xml version="1.0" encoding="utf-8"?><Relationships xmlns="http://schemas.openxmlformats.org/package/2006/relationships"><Relationship Type="http://schemas.openxmlformats.org/officeDocument/2006/relationships/slide" Target="/ppt/slides/slide3.xml" Id="R9c496f4f50794534" /><Relationship Type="http://schemas.openxmlformats.org/officeDocument/2006/relationships/notesMaster" Target="/ppt/notesMasters/notesMaster1.xml" Id="R3ccd7969ef624923" /></Relationships>
</file>

<file path=ppt/notesSlides/_rels/notesSlide4.xml.rels>&#65279;<?xml version="1.0" encoding="utf-8"?><Relationships xmlns="http://schemas.openxmlformats.org/package/2006/relationships"><Relationship Type="http://schemas.openxmlformats.org/officeDocument/2006/relationships/slide" Target="/ppt/slides/slide4.xml" Id="R3e42092dd16b424f" /><Relationship Type="http://schemas.openxmlformats.org/officeDocument/2006/relationships/notesMaster" Target="/ppt/notesMasters/notesMaster1.xml" Id="Rfbcd45c40ebc46bd" /></Relationships>
</file>

<file path=ppt/notesSlides/_rels/notesSlide5.xml.rels>&#65279;<?xml version="1.0" encoding="utf-8"?><Relationships xmlns="http://schemas.openxmlformats.org/package/2006/relationships"><Relationship Type="http://schemas.openxmlformats.org/officeDocument/2006/relationships/slide" Target="/ppt/slides/slide5.xml" Id="R959a49578b8d4236" /><Relationship Type="http://schemas.openxmlformats.org/officeDocument/2006/relationships/notesMaster" Target="/ppt/notesMasters/notesMaster1.xml" Id="R3ef10dd32e9a4b3c" /></Relationships>
</file>

<file path=ppt/notesSlides/_rels/notesSlide6.xml.rels>&#65279;<?xml version="1.0" encoding="utf-8"?><Relationships xmlns="http://schemas.openxmlformats.org/package/2006/relationships"><Relationship Type="http://schemas.openxmlformats.org/officeDocument/2006/relationships/slide" Target="/ppt/slides/slide6.xml" Id="R34946ed3d3fd4740" /><Relationship Type="http://schemas.openxmlformats.org/officeDocument/2006/relationships/notesMaster" Target="/ppt/notesMasters/notesMaster1.xml" Id="R4fcc654b056a41a2" /></Relationships>
</file>

<file path=ppt/notesSlides/_rels/notesSlide7.xml.rels>&#65279;<?xml version="1.0" encoding="utf-8"?><Relationships xmlns="http://schemas.openxmlformats.org/package/2006/relationships"><Relationship Type="http://schemas.openxmlformats.org/officeDocument/2006/relationships/slide" Target="/ppt/slides/slide7.xml" Id="R61a521cb42554be6" /><Relationship Type="http://schemas.openxmlformats.org/officeDocument/2006/relationships/notesMaster" Target="/ppt/notesMasters/notesMaster1.xml" Id="Re43df8f3ec7b4969" /></Relationships>
</file>

<file path=ppt/notesSlides/_rels/notesSlide8.xml.rels>&#65279;<?xml version="1.0" encoding="utf-8"?><Relationships xmlns="http://schemas.openxmlformats.org/package/2006/relationships"><Relationship Type="http://schemas.openxmlformats.org/officeDocument/2006/relationships/slide" Target="/ppt/slides/slide8.xml" Id="Rb8974c2f31e9444d" /><Relationship Type="http://schemas.openxmlformats.org/officeDocument/2006/relationships/notesMaster" Target="/ppt/notesMasters/notesMaster1.xml" Id="Rce33353f494c4ad2" /></Relationships>
</file>

<file path=ppt/notesSlides/_rels/notesSlide9.xml.rels>&#65279;<?xml version="1.0" encoding="utf-8"?><Relationships xmlns="http://schemas.openxmlformats.org/package/2006/relationships"><Relationship Type="http://schemas.openxmlformats.org/officeDocument/2006/relationships/slide" Target="/ppt/slides/slide9.xml" Id="Ra3786ed645e84023" /><Relationship Type="http://schemas.openxmlformats.org/officeDocument/2006/relationships/notesMaster" Target="/ppt/notesMasters/notesMaster1.xml" Id="R46be484a8cdb48f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22382bcb85d4c9f" /><Relationship Type="http://schemas.openxmlformats.org/officeDocument/2006/relationships/notesMaster" Target="/ppt/notesMasters/notesMaster1.xml" Id="R61d21e0981bc4ae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project in one breath: "EvoTraffic predicts traffic speed with a graph-based neural network, and we plan to use evolutionary search to improve it." Say this is a working prototype with validation results only.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it simple: traffic is not the same every day. Weather, time and unusual events change it. A useful model must be accurate, fast, and still work when conditions change.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State the goal first, then the three-step plan. Point out the colour tags: green means done, amber means planned. The three objectives are goals we want to balance, not results.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 SCRIPT (about 1 minute): (1) Open the saved training summary and point to 207 sensors, 34,272 time steps, 6,300 parameters and best validation MAE 4.658 mph. (2) Show only artifacts that exist in the repository; do not imply a prediction-vs-actual plot exists. (3) State clearly that test MAE, NSGA-II and incident prediction are not completed.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left to right. The graph layer lets each sensor learn from its neighbours. The GRU reads recent history to learn how speed changes over time. The output is predicted speed. If asked for layer sizes, input window or forecast horizon, say they are not recorded in the saved summary.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Share only verified numbers. Dataset source, sampling interval, split, optimizer, learning rate and hardware were not recorded in the saved summary. Do not guess them.</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 "validation" every time. MAE means the average size of the prediction error, so on validation data the model is off by about 4.7 mph on average. Test MAE has not been measured, and we have not compared against baselines.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 direct. Judges respect honesty. Every item here is a known gap, and the next slide shows how we plan to close them.</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 these as plans, not achievements. Timing is not specified. Incident prediction depends on finding usable labelled data.</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Repeat three takeaways: it works, here is the validation number, and here is what comes next. Then invite questions.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37cd899f26e43e7"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947301beb514c18" /><Relationship Type="http://schemas.openxmlformats.org/officeDocument/2006/relationships/slideLayout" Target="/ppt/slideLayouts/slideLayout1.xml" Id="R4ff5604116054e73"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ff5604116054e73"/>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5a55ed3e71d4c3c" /><Relationship Type="http://schemas.openxmlformats.org/officeDocument/2006/relationships/notesSlide" Target="/ppt/notesSlides/notesSlide1.xml" Id="R12f375b91389422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79f0f3858a941e9" /><Relationship Type="http://schemas.openxmlformats.org/officeDocument/2006/relationships/notesSlide" Target="/ppt/notesSlides/notesSlide2.xml" Id="R3f7ad8ec7860476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586f31bd74a4821" /><Relationship Type="http://schemas.openxmlformats.org/officeDocument/2006/relationships/notesSlide" Target="/ppt/notesSlides/notesSlide3.xml" Id="Rf1792ac1c18e4b4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05777f8fb06422e" /><Relationship Type="http://schemas.openxmlformats.org/officeDocument/2006/relationships/notesSlide" Target="/ppt/notesSlides/notesSlide4.xml" Id="R4802eceb4bfa4aa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93d775db38f4b60" /><Relationship Type="http://schemas.openxmlformats.org/officeDocument/2006/relationships/notesSlide" Target="/ppt/notesSlides/notesSlide5.xml" Id="R7940a44750b9457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905d97361b24914" /><Relationship Type="http://schemas.openxmlformats.org/officeDocument/2006/relationships/notesSlide" Target="/ppt/notesSlides/notesSlide6.xml" Id="R7c77d41be8914b0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819cdb570574c32" /><Relationship Type="http://schemas.openxmlformats.org/officeDocument/2006/relationships/notesSlide" Target="/ppt/notesSlides/notesSlide7.xml" Id="R705f98b336dc4a8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bcb186f381a42cc" /><Relationship Type="http://schemas.openxmlformats.org/officeDocument/2006/relationships/notesSlide" Target="/ppt/notesSlides/notesSlide8.xml" Id="Ra131b6b0e65d454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42c3d171840456d" /><Relationship Type="http://schemas.openxmlformats.org/officeDocument/2006/relationships/notesSlide" Target="/ppt/notesSlides/notesSlide9.xml" Id="R33eefef6468e4ea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a9b7d32f76340fb" /><Relationship Type="http://schemas.openxmlformats.org/officeDocument/2006/relationships/notesSlide" Target="/ppt/notesSlides/notesSlide10.xml" Id="Rc9f2dd75aeca4888" /></Relationships>
</file>

<file path=ppt/slides/slide1.xml><?xml version="1.0" encoding="utf-8"?>
<p:sld xmlns:p="http://schemas.openxmlformats.org/presentationml/2006/main">
  <p:cSld>
    <p:bg>
      <p:bgPr>
        <a:solidFill xmlns:a="http://schemas.openxmlformats.org/drawingml/2006/main">
          <a:srgbClr val="0F172A"/>
        </a:solidFill>
      </p:bgPr>
    </p:bg>
    <p:spTree>
      <p:nvGrpSpPr>
        <p:cNvPr id="1" name=""/>
        <p:cNvGrpSpPr/>
        <p:nvPr/>
      </p:nvGrpSpPr>
      <p:grpSpPr>
        <a:xfrm xmlns:a="http://schemas.openxmlformats.org/drawingml/2006/main"/>
      </p:grpSpPr>
      <p:sp>
        <p:nvSpPr>
          <p:cNvPr id="3" name="Text 0">
            <a:extLst xmlns:a="http://schemas.openxmlformats.org/drawingml/2006/main">
              <a:ext uri="{FF2B5EF4-FFF2-40B4-BE49-F238E27FC236}">
                <a16:creationId xmlns:a16="http://schemas.microsoft.com/office/drawing/2014/main" id="{B1EE12C3-B7B2-4D66-A45B-69FE8C1E0378}"/>
              </a:ext>
            </a:extLst>
          </p:cNvPr>
          <p:cNvSpPr>
            <a:spLocks xmlns:a="http://schemas.openxmlformats.org/drawingml/2006/main" noGrp="1"/>
          </p:cNvSpPr>
          <p:nvPr/>
        </p:nvSpPr>
        <p:spPr>
          <a:xfrm xmlns:a="http://schemas.openxmlformats.org/drawingml/2006/main">
            <a:off x="548640" y="731520"/>
            <a:ext cx="80467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a:solidFill>
                  <a:srgbClr val="94A3B8"/>
                </a:solidFill>
                <a:latin typeface="Calibri"/>
                <a:ea typeface="Calibri"/>
                <a:cs typeface="Calibri"/>
              </a:rPr>
              <a:t>OptiForge 2026 · Track 04: IEEE CIS — Machine Learning &amp; AI</a:t>
            </a:r>
            <a:endParaRPr sz="1400"/>
          </a:p>
        </p:txBody>
      </p:sp>
      <p:sp>
        <p:nvSpPr>
          <p:cNvPr id="4" name="Text 1">
            <a:extLst xmlns:a="http://schemas.openxmlformats.org/drawingml/2006/main">
              <a:ext uri="{FF2B5EF4-FFF2-40B4-BE49-F238E27FC236}">
                <a16:creationId xmlns:a16="http://schemas.microsoft.com/office/drawing/2014/main" id="{616C59D6-0E74-46F3-8B54-A5B4C8678098}"/>
              </a:ext>
            </a:extLst>
          </p:cNvPr>
          <p:cNvSpPr>
            <a:spLocks xmlns:a="http://schemas.openxmlformats.org/drawingml/2006/main" noGrp="1"/>
          </p:cNvSpPr>
          <p:nvPr/>
        </p:nvSpPr>
        <p:spPr>
          <a:xfrm xmlns:a="http://schemas.openxmlformats.org/drawingml/2006/main">
            <a:off x="548640" y="1280160"/>
            <a:ext cx="8046720"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6000" b="1">
                <a:solidFill>
                  <a:srgbClr val="38BDF8"/>
                </a:solidFill>
                <a:latin typeface="Calibri"/>
                <a:ea typeface="Calibri"/>
                <a:cs typeface="Calibri"/>
              </a:rPr>
              <a:t>EvoTraffic</a:t>
            </a:r>
            <a:endParaRPr sz="6000"/>
          </a:p>
        </p:txBody>
      </p:sp>
      <p:sp>
        <p:nvSpPr>
          <p:cNvPr id="5" name="Text 2">
            <a:extLst xmlns:a="http://schemas.openxmlformats.org/drawingml/2006/main">
              <a:ext uri="{FF2B5EF4-FFF2-40B4-BE49-F238E27FC236}">
                <a16:creationId xmlns:a16="http://schemas.microsoft.com/office/drawing/2014/main" id="{D34ECB67-CEB7-4484-9879-3E1C166166AC}"/>
              </a:ext>
            </a:extLst>
          </p:cNvPr>
          <p:cNvSpPr>
            <a:spLocks xmlns:a="http://schemas.openxmlformats.org/drawingml/2006/main" noGrp="1"/>
          </p:cNvSpPr>
          <p:nvPr/>
        </p:nvSpPr>
        <p:spPr>
          <a:xfrm xmlns:a="http://schemas.openxmlformats.org/drawingml/2006/main">
            <a:off x="548640" y="2377440"/>
            <a:ext cx="73152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200">
                <a:solidFill>
                  <a:srgbClr val="F1F5F9"/>
                </a:solidFill>
                <a:latin typeface="Calibri"/>
                <a:ea typeface="Calibri"/>
                <a:cs typeface="Calibri"/>
              </a:rPr>
              <a:t>GNN+GRU Traffic-Speed Forecasting</a:t>
            </a:r>
            <a:endParaRPr sz="2200"/>
          </a:p>
        </p:txBody>
      </p:sp>
      <p:sp>
        <p:nvSpPr>
          <p:cNvPr id="6" name="Text 3">
            <a:extLst xmlns:a="http://schemas.openxmlformats.org/drawingml/2006/main">
              <a:ext uri="{FF2B5EF4-FFF2-40B4-BE49-F238E27FC236}">
                <a16:creationId xmlns:a16="http://schemas.microsoft.com/office/drawing/2014/main" id="{DE03AE68-CBE0-4144-884A-96BDC958B309}"/>
              </a:ext>
            </a:extLst>
          </p:cNvPr>
          <p:cNvSpPr>
            <a:spLocks xmlns:a="http://schemas.openxmlformats.org/drawingml/2006/main" noGrp="1"/>
          </p:cNvSpPr>
          <p:nvPr/>
        </p:nvSpPr>
        <p:spPr>
          <a:xfrm xmlns:a="http://schemas.openxmlformats.org/drawingml/2006/main">
            <a:off x="548640" y="3566160"/>
            <a:ext cx="80467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a:solidFill>
                  <a:srgbClr val="94A3B8"/>
                </a:solidFill>
                <a:latin typeface="Calibri"/>
                <a:ea typeface="Calibri"/>
                <a:cs typeface="Calibri"/>
              </a:rPr>
              <a:t/>
            </a:r>
            <a:endParaRPr sz="1400"/>
          </a:p>
        </p:txBody>
      </p:sp>
      <p:sp>
        <p:nvSpPr>
          <p:cNvPr id="7" name="Shape 4">
            <a:extLst xmlns:a="http://schemas.openxmlformats.org/drawingml/2006/main">
              <a:ext uri="{FF2B5EF4-FFF2-40B4-BE49-F238E27FC236}">
                <a16:creationId xmlns:a16="http://schemas.microsoft.com/office/drawing/2014/main" id="{39B9FD56-C657-4CF0-9A30-5FD4D4B117E9}"/>
              </a:ext>
            </a:extLst>
          </p:cNvPr>
          <p:cNvSpPr>
            <a:spLocks xmlns:a="http://schemas.openxmlformats.org/drawingml/2006/main" noGrp="1"/>
          </p:cNvSpPr>
          <p:nvPr/>
        </p:nvSpPr>
        <p:spPr>
          <a:xfrm xmlns:a="http://schemas.openxmlformats.org/drawingml/2006/main">
            <a:off x="548640" y="4206240"/>
            <a:ext cx="3291840" cy="274320"/>
          </a:xfrm>
          <a:prstGeom xmlns:a="http://schemas.openxmlformats.org/drawingml/2006/main" prst="roundRect">
            <a:avLst>
              <a:gd name="adj" fmla="val 40000"/>
            </a:avLst>
          </a:prstGeom>
          <a:solidFill xmlns:a="http://schemas.openxmlformats.org/drawingml/2006/main">
            <a:srgbClr val="FBBF24"/>
          </a:solidFill>
          <a:ln xmlns:a="http://schemas.openxmlformats.org/drawingml/2006/main" w="12700">
            <a:solidFill>
              <a:srgbClr val="FBBF24"/>
            </a:solidFill>
            <a:prstDash val="solid"/>
          </a:ln>
        </p:spPr>
      </p:sp>
      <p:sp>
        <p:nvSpPr>
          <p:cNvPr id="8" name="Text 5">
            <a:extLst xmlns:a="http://schemas.openxmlformats.org/drawingml/2006/main">
              <a:ext uri="{FF2B5EF4-FFF2-40B4-BE49-F238E27FC236}">
                <a16:creationId xmlns:a16="http://schemas.microsoft.com/office/drawing/2014/main" id="{C438734E-C2F9-48FB-BD9A-D1F781740026}"/>
              </a:ext>
            </a:extLst>
          </p:cNvPr>
          <p:cNvSpPr>
            <a:spLocks xmlns:a="http://schemas.openxmlformats.org/drawingml/2006/main" noGrp="1"/>
          </p:cNvSpPr>
          <p:nvPr/>
        </p:nvSpPr>
        <p:spPr>
          <a:xfrm xmlns:a="http://schemas.openxmlformats.org/drawingml/2006/main">
            <a:off x="548640" y="4206240"/>
            <a:ext cx="32918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0F172A"/>
                </a:solidFill>
                <a:latin typeface="Calibri"/>
                <a:ea typeface="Calibri"/>
                <a:cs typeface="Calibri"/>
              </a:rPr>
              <a:t>Status: prototype · validation results only</a:t>
            </a:r>
            <a:endParaRPr sz="1100"/>
          </a:p>
        </p:txBody>
      </p:sp>
    </p:spTree>
    <p:extLst>
      <p:ext uri="{BB962C8B-B14F-4D97-AF65-F5344CB8AC3E}">
        <p14:creationId xmlns:p14="http://schemas.microsoft.com/office/powerpoint/2010/main" val="1664908213"/>
      </p:ext>
    </p:extLst>
  </p:cSld>
</p:sld>
</file>

<file path=ppt/slides/slide2.xml><?xml version="1.0" encoding="utf-8"?>
<p:sld xmlns:p="http://schemas.openxmlformats.org/presentationml/2006/main">
  <p:cSld>
    <p:bg>
      <p:bgPr>
        <a:solidFill xmlns:a="http://schemas.openxmlformats.org/drawingml/2006/main">
          <a:srgbClr val="0F172A"/>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CAAE8A0-254B-443C-B841-4233C07A754A}"/>
              </a:ext>
            </a:extLst>
          </p:cNvPr>
          <p:cNvSpPr>
            <a:spLocks xmlns:a="http://schemas.openxmlformats.org/drawingml/2006/main" noGrp="1"/>
          </p:cNvSpPr>
          <p:nvPr/>
        </p:nvSpPr>
        <p:spPr>
          <a:xfrm xmlns:a="http://schemas.openxmlformats.org/drawingml/2006/main">
            <a:off x="457200" y="274320"/>
            <a:ext cx="822960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b="1">
                <a:solidFill>
                  <a:srgbClr val="F1F5F9"/>
                </a:solidFill>
                <a:latin typeface="Calibri"/>
                <a:ea typeface="Calibri"/>
                <a:cs typeface="Calibri"/>
              </a:rPr>
              <a:t>Why traffic prediction is hard</a:t>
            </a:r>
            <a:endParaRPr sz="2800"/>
          </a:p>
        </p:txBody>
      </p:sp>
      <p:sp>
        <p:nvSpPr>
          <p:cNvPr id="4" name="Shape 1">
            <a:extLst xmlns:a="http://schemas.openxmlformats.org/drawingml/2006/main">
              <a:ext uri="{FF2B5EF4-FFF2-40B4-BE49-F238E27FC236}">
                <a16:creationId xmlns:a16="http://schemas.microsoft.com/office/drawing/2014/main" id="{78EFDE9E-6B07-40F5-AA4C-9F0C18583A47}"/>
              </a:ext>
            </a:extLst>
          </p:cNvPr>
          <p:cNvSpPr>
            <a:spLocks xmlns:a="http://schemas.openxmlformats.org/drawingml/2006/main" noGrp="1"/>
          </p:cNvSpPr>
          <p:nvPr/>
        </p:nvSpPr>
        <p:spPr>
          <a:xfrm xmlns:a="http://schemas.openxmlformats.org/drawingml/2006/main">
            <a:off x="457200" y="1280160"/>
            <a:ext cx="2606040" cy="2103120"/>
          </a:xfrm>
          <a:prstGeom xmlns:a="http://schemas.openxmlformats.org/drawingml/2006/main" prst="roundRect">
            <a:avLst>
              <a:gd name="adj" fmla="val 5217"/>
            </a:avLst>
          </a:prstGeom>
          <a:solidFill xmlns:a="http://schemas.openxmlformats.org/drawingml/2006/main">
            <a:srgbClr val="1E293B"/>
          </a:solidFill>
          <a:ln xmlns:a="http://schemas.openxmlformats.org/drawingml/2006/main" w="12700">
            <a:solidFill>
              <a:srgbClr val="1E293B"/>
            </a:solidFill>
            <a:prstDash val="solid"/>
          </a:ln>
        </p:spPr>
      </p:sp>
      <p:sp>
        <p:nvSpPr>
          <p:cNvPr id="5" name="Text 2">
            <a:extLst xmlns:a="http://schemas.openxmlformats.org/drawingml/2006/main">
              <a:ext uri="{FF2B5EF4-FFF2-40B4-BE49-F238E27FC236}">
                <a16:creationId xmlns:a16="http://schemas.microsoft.com/office/drawing/2014/main" id="{F3229F79-2D03-46BD-B0AA-3CF411F7D387}"/>
              </a:ext>
            </a:extLst>
          </p:cNvPr>
          <p:cNvSpPr>
            <a:spLocks xmlns:a="http://schemas.openxmlformats.org/drawingml/2006/main" noGrp="1"/>
          </p:cNvSpPr>
          <p:nvPr/>
        </p:nvSpPr>
        <p:spPr>
          <a:xfrm xmlns:a="http://schemas.openxmlformats.org/drawingml/2006/main">
            <a:off x="640080" y="1463040"/>
            <a:ext cx="22402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700" b="1">
                <a:solidFill>
                  <a:srgbClr val="38BDF8"/>
                </a:solidFill>
                <a:latin typeface="Calibri"/>
                <a:ea typeface="Calibri"/>
                <a:cs typeface="Calibri"/>
              </a:rPr>
              <a:t>Conditions change</a:t>
            </a:r>
            <a:endParaRPr sz="1700"/>
          </a:p>
        </p:txBody>
      </p:sp>
      <p:sp>
        <p:nvSpPr>
          <p:cNvPr id="6" name="Text 3">
            <a:extLst xmlns:a="http://schemas.openxmlformats.org/drawingml/2006/main">
              <a:ext uri="{FF2B5EF4-FFF2-40B4-BE49-F238E27FC236}">
                <a16:creationId xmlns:a16="http://schemas.microsoft.com/office/drawing/2014/main" id="{079EA5C5-7AF5-442C-96A7-09A4DBBC9E28}"/>
              </a:ext>
            </a:extLst>
          </p:cNvPr>
          <p:cNvSpPr>
            <a:spLocks xmlns:a="http://schemas.openxmlformats.org/drawingml/2006/main" noGrp="1"/>
          </p:cNvSpPr>
          <p:nvPr/>
        </p:nvSpPr>
        <p:spPr>
          <a:xfrm xmlns:a="http://schemas.openxmlformats.org/drawingml/2006/main">
            <a:off x="640080" y="2011680"/>
            <a:ext cx="2240280"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a:solidFill>
                  <a:srgbClr val="F1F5F9"/>
                </a:solidFill>
                <a:latin typeface="Calibri"/>
                <a:ea typeface="Calibri"/>
                <a:cs typeface="Calibri"/>
              </a:rPr>
              <a:t>Weather, time of day and unusual periods change how traffic behaves.</a:t>
            </a:r>
            <a:endParaRPr sz="1400"/>
          </a:p>
        </p:txBody>
      </p:sp>
      <p:sp>
        <p:nvSpPr>
          <p:cNvPr id="7" name="Shape 4">
            <a:extLst xmlns:a="http://schemas.openxmlformats.org/drawingml/2006/main">
              <a:ext uri="{FF2B5EF4-FFF2-40B4-BE49-F238E27FC236}">
                <a16:creationId xmlns:a16="http://schemas.microsoft.com/office/drawing/2014/main" id="{26C7BEC7-84F2-41DE-895C-283972E870FA}"/>
              </a:ext>
            </a:extLst>
          </p:cNvPr>
          <p:cNvSpPr>
            <a:spLocks xmlns:a="http://schemas.openxmlformats.org/drawingml/2006/main" noGrp="1"/>
          </p:cNvSpPr>
          <p:nvPr/>
        </p:nvSpPr>
        <p:spPr>
          <a:xfrm xmlns:a="http://schemas.openxmlformats.org/drawingml/2006/main">
            <a:off x="3268980" y="1280160"/>
            <a:ext cx="2606040" cy="2103120"/>
          </a:xfrm>
          <a:prstGeom xmlns:a="http://schemas.openxmlformats.org/drawingml/2006/main" prst="roundRect">
            <a:avLst>
              <a:gd name="adj" fmla="val 5217"/>
            </a:avLst>
          </a:prstGeom>
          <a:solidFill xmlns:a="http://schemas.openxmlformats.org/drawingml/2006/main">
            <a:srgbClr val="1E293B"/>
          </a:solidFill>
          <a:ln xmlns:a="http://schemas.openxmlformats.org/drawingml/2006/main" w="12700">
            <a:solidFill>
              <a:srgbClr val="1E293B"/>
            </a:solidFill>
            <a:prstDash val="solid"/>
          </a:ln>
        </p:spPr>
      </p:sp>
      <p:sp>
        <p:nvSpPr>
          <p:cNvPr id="8" name="Text 5">
            <a:extLst xmlns:a="http://schemas.openxmlformats.org/drawingml/2006/main">
              <a:ext uri="{FF2B5EF4-FFF2-40B4-BE49-F238E27FC236}">
                <a16:creationId xmlns:a16="http://schemas.microsoft.com/office/drawing/2014/main" id="{6E833313-832C-49F4-A4F6-89FBC94D5504}"/>
              </a:ext>
            </a:extLst>
          </p:cNvPr>
          <p:cNvSpPr>
            <a:spLocks xmlns:a="http://schemas.openxmlformats.org/drawingml/2006/main" noGrp="1"/>
          </p:cNvSpPr>
          <p:nvPr/>
        </p:nvSpPr>
        <p:spPr>
          <a:xfrm xmlns:a="http://schemas.openxmlformats.org/drawingml/2006/main">
            <a:off x="3451860" y="1463040"/>
            <a:ext cx="22402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700" b="1">
                <a:solidFill>
                  <a:srgbClr val="38BDF8"/>
                </a:solidFill>
                <a:latin typeface="Calibri"/>
                <a:ea typeface="Calibri"/>
                <a:cs typeface="Calibri"/>
              </a:rPr>
              <a:t>Speed matters</a:t>
            </a:r>
            <a:endParaRPr sz="1700"/>
          </a:p>
        </p:txBody>
      </p:sp>
      <p:sp>
        <p:nvSpPr>
          <p:cNvPr id="9" name="Text 6">
            <a:extLst xmlns:a="http://schemas.openxmlformats.org/drawingml/2006/main">
              <a:ext uri="{FF2B5EF4-FFF2-40B4-BE49-F238E27FC236}">
                <a16:creationId xmlns:a16="http://schemas.microsoft.com/office/drawing/2014/main" id="{B35E5889-D451-480B-AD3E-E6F580075752}"/>
              </a:ext>
            </a:extLst>
          </p:cNvPr>
          <p:cNvSpPr>
            <a:spLocks xmlns:a="http://schemas.openxmlformats.org/drawingml/2006/main" noGrp="1"/>
          </p:cNvSpPr>
          <p:nvPr/>
        </p:nvSpPr>
        <p:spPr>
          <a:xfrm xmlns:a="http://schemas.openxmlformats.org/drawingml/2006/main">
            <a:off x="3451860" y="2011680"/>
            <a:ext cx="2240280"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a:solidFill>
                  <a:srgbClr val="F1F5F9"/>
                </a:solidFill>
                <a:latin typeface="Calibri"/>
                <a:ea typeface="Calibri"/>
                <a:cs typeface="Calibri"/>
              </a:rPr>
              <a:t>A model that is slow or very large is hard to use in practice.</a:t>
            </a:r>
            <a:endParaRPr sz="1400"/>
          </a:p>
        </p:txBody>
      </p:sp>
      <p:sp>
        <p:nvSpPr>
          <p:cNvPr id="10" name="Shape 7">
            <a:extLst xmlns:a="http://schemas.openxmlformats.org/drawingml/2006/main">
              <a:ext uri="{FF2B5EF4-FFF2-40B4-BE49-F238E27FC236}">
                <a16:creationId xmlns:a16="http://schemas.microsoft.com/office/drawing/2014/main" id="{0706FDC3-C468-4184-9E7D-42373394A9CE}"/>
              </a:ext>
            </a:extLst>
          </p:cNvPr>
          <p:cNvSpPr>
            <a:spLocks xmlns:a="http://schemas.openxmlformats.org/drawingml/2006/main" noGrp="1"/>
          </p:cNvSpPr>
          <p:nvPr/>
        </p:nvSpPr>
        <p:spPr>
          <a:xfrm xmlns:a="http://schemas.openxmlformats.org/drawingml/2006/main">
            <a:off x="6080760" y="1280160"/>
            <a:ext cx="2606040" cy="2103120"/>
          </a:xfrm>
          <a:prstGeom xmlns:a="http://schemas.openxmlformats.org/drawingml/2006/main" prst="roundRect">
            <a:avLst>
              <a:gd name="adj" fmla="val 5217"/>
            </a:avLst>
          </a:prstGeom>
          <a:solidFill xmlns:a="http://schemas.openxmlformats.org/drawingml/2006/main">
            <a:srgbClr val="1E293B"/>
          </a:solidFill>
          <a:ln xmlns:a="http://schemas.openxmlformats.org/drawingml/2006/main" w="12700">
            <a:solidFill>
              <a:srgbClr val="1E293B"/>
            </a:solidFill>
            <a:prstDash val="solid"/>
          </a:ln>
        </p:spPr>
      </p:sp>
      <p:sp>
        <p:nvSpPr>
          <p:cNvPr id="11" name="Text 8">
            <a:extLst xmlns:a="http://schemas.openxmlformats.org/drawingml/2006/main">
              <a:ext uri="{FF2B5EF4-FFF2-40B4-BE49-F238E27FC236}">
                <a16:creationId xmlns:a16="http://schemas.microsoft.com/office/drawing/2014/main" id="{279EC204-57DC-48C7-89D5-AF95E9448401}"/>
              </a:ext>
            </a:extLst>
          </p:cNvPr>
          <p:cNvSpPr>
            <a:spLocks xmlns:a="http://schemas.openxmlformats.org/drawingml/2006/main" noGrp="1"/>
          </p:cNvSpPr>
          <p:nvPr/>
        </p:nvSpPr>
        <p:spPr>
          <a:xfrm xmlns:a="http://schemas.openxmlformats.org/drawingml/2006/main">
            <a:off x="6263640" y="1463040"/>
            <a:ext cx="22402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700" b="1">
                <a:solidFill>
                  <a:srgbClr val="38BDF8"/>
                </a:solidFill>
                <a:latin typeface="Calibri"/>
                <a:ea typeface="Calibri"/>
                <a:cs typeface="Calibri"/>
              </a:rPr>
              <a:t>Trust under change</a:t>
            </a:r>
            <a:endParaRPr sz="1700"/>
          </a:p>
        </p:txBody>
      </p:sp>
      <p:sp>
        <p:nvSpPr>
          <p:cNvPr id="12" name="Text 9">
            <a:extLst xmlns:a="http://schemas.openxmlformats.org/drawingml/2006/main">
              <a:ext uri="{FF2B5EF4-FFF2-40B4-BE49-F238E27FC236}">
                <a16:creationId xmlns:a16="http://schemas.microsoft.com/office/drawing/2014/main" id="{C52F6A19-E325-4CD0-9B5E-6D86474D94E6}"/>
              </a:ext>
            </a:extLst>
          </p:cNvPr>
          <p:cNvSpPr>
            <a:spLocks xmlns:a="http://schemas.openxmlformats.org/drawingml/2006/main" noGrp="1"/>
          </p:cNvSpPr>
          <p:nvPr/>
        </p:nvSpPr>
        <p:spPr>
          <a:xfrm xmlns:a="http://schemas.openxmlformats.org/drawingml/2006/main">
            <a:off x="6263640" y="2011680"/>
            <a:ext cx="2240280"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a:solidFill>
                  <a:srgbClr val="F1F5F9"/>
                </a:solidFill>
                <a:latin typeface="Calibri"/>
                <a:ea typeface="Calibri"/>
                <a:cs typeface="Calibri"/>
              </a:rPr>
              <a:t>A model that only works on "normal" days is not enough.</a:t>
            </a:r>
            <a:endParaRPr sz="1400"/>
          </a:p>
        </p:txBody>
      </p:sp>
      <p:sp>
        <p:nvSpPr>
          <p:cNvPr id="13" name="Text 10">
            <a:extLst xmlns:a="http://schemas.openxmlformats.org/drawingml/2006/main">
              <a:ext uri="{FF2B5EF4-FFF2-40B4-BE49-F238E27FC236}">
                <a16:creationId xmlns:a16="http://schemas.microsoft.com/office/drawing/2014/main" id="{274C8E09-B7C8-470F-BB07-E693397A69FA}"/>
              </a:ext>
            </a:extLst>
          </p:cNvPr>
          <p:cNvSpPr>
            <a:spLocks xmlns:a="http://schemas.openxmlformats.org/drawingml/2006/main" noGrp="1"/>
          </p:cNvSpPr>
          <p:nvPr/>
        </p:nvSpPr>
        <p:spPr>
          <a:xfrm xmlns:a="http://schemas.openxmlformats.org/drawingml/2006/main">
            <a:off x="457200" y="3840480"/>
            <a:ext cx="82296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600">
                <a:solidFill>
                  <a:srgbClr val="94A3B8"/>
                </a:solidFill>
                <a:latin typeface="Calibri"/>
                <a:ea typeface="Calibri"/>
                <a:cs typeface="Calibri"/>
              </a:rPr>
              <a:t>Our focus: predict near-term speeds across a sensor network, so changes can be anticipated, not just observed.</a:t>
            </a:r>
            <a:endParaRPr sz="1600"/>
          </a:p>
        </p:txBody>
      </p:sp>
    </p:spTree>
    <p:extLst>
      <p:ext uri="{BB962C8B-B14F-4D97-AF65-F5344CB8AC3E}">
        <p14:creationId xmlns:p14="http://schemas.microsoft.com/office/powerpoint/2010/main" val="1671730577"/>
      </p:ext>
    </p:extLst>
  </p:cSld>
</p:sld>
</file>

<file path=ppt/slides/slide3.xml><?xml version="1.0" encoding="utf-8"?>
<p:sld xmlns:p="http://schemas.openxmlformats.org/presentationml/2006/main">
  <p:cSld>
    <p:bg>
      <p:bgPr>
        <a:solidFill xmlns:a="http://schemas.openxmlformats.org/drawingml/2006/main">
          <a:srgbClr val="0F172A"/>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77ACB2FE-29D8-4B73-BCCB-1A34178B82BE}"/>
              </a:ext>
            </a:extLst>
          </p:cNvPr>
          <p:cNvSpPr>
            <a:spLocks xmlns:a="http://schemas.openxmlformats.org/drawingml/2006/main" noGrp="1"/>
          </p:cNvSpPr>
          <p:nvPr/>
        </p:nvSpPr>
        <p:spPr>
          <a:xfrm xmlns:a="http://schemas.openxmlformats.org/drawingml/2006/main">
            <a:off x="457200" y="274320"/>
            <a:ext cx="822960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b="1">
                <a:solidFill>
                  <a:srgbClr val="F1F5F9"/>
                </a:solidFill>
                <a:latin typeface="Calibri"/>
                <a:ea typeface="Calibri"/>
                <a:cs typeface="Calibri"/>
              </a:rPr>
              <a:t>Goal and approach</a:t>
            </a:r>
            <a:endParaRPr sz="2800"/>
          </a:p>
        </p:txBody>
      </p:sp>
      <p:sp>
        <p:nvSpPr>
          <p:cNvPr id="4" name="Shape 1">
            <a:extLst xmlns:a="http://schemas.openxmlformats.org/drawingml/2006/main">
              <a:ext uri="{FF2B5EF4-FFF2-40B4-BE49-F238E27FC236}">
                <a16:creationId xmlns:a16="http://schemas.microsoft.com/office/drawing/2014/main" id="{0D8E35F9-A2FB-4A54-965B-CB1A0499F68E}"/>
              </a:ext>
            </a:extLst>
          </p:cNvPr>
          <p:cNvSpPr>
            <a:spLocks xmlns:a="http://schemas.openxmlformats.org/drawingml/2006/main" noGrp="1"/>
          </p:cNvSpPr>
          <p:nvPr/>
        </p:nvSpPr>
        <p:spPr>
          <a:xfrm xmlns:a="http://schemas.openxmlformats.org/drawingml/2006/main">
            <a:off x="457200" y="1188720"/>
            <a:ext cx="3840480" cy="2743200"/>
          </a:xfrm>
          <a:prstGeom xmlns:a="http://schemas.openxmlformats.org/drawingml/2006/main" prst="roundRect">
            <a:avLst>
              <a:gd name="adj" fmla="val 4000"/>
            </a:avLst>
          </a:prstGeom>
          <a:solidFill xmlns:a="http://schemas.openxmlformats.org/drawingml/2006/main">
            <a:srgbClr val="1E293B"/>
          </a:solidFill>
          <a:ln xmlns:a="http://schemas.openxmlformats.org/drawingml/2006/main" w="12700">
            <a:solidFill>
              <a:srgbClr val="1E293B"/>
            </a:solidFill>
            <a:prstDash val="solid"/>
          </a:ln>
        </p:spPr>
      </p:sp>
      <p:sp>
        <p:nvSpPr>
          <p:cNvPr id="5" name="Text 2">
            <a:extLst xmlns:a="http://schemas.openxmlformats.org/drawingml/2006/main">
              <a:ext uri="{FF2B5EF4-FFF2-40B4-BE49-F238E27FC236}">
                <a16:creationId xmlns:a16="http://schemas.microsoft.com/office/drawing/2014/main" id="{7FB71F92-327A-487B-AD1C-BF18C4F7C4BE}"/>
              </a:ext>
            </a:extLst>
          </p:cNvPr>
          <p:cNvSpPr>
            <a:spLocks xmlns:a="http://schemas.openxmlformats.org/drawingml/2006/main" noGrp="1"/>
          </p:cNvSpPr>
          <p:nvPr/>
        </p:nvSpPr>
        <p:spPr>
          <a:xfrm xmlns:a="http://schemas.openxmlformats.org/drawingml/2006/main">
            <a:off x="685800" y="1371600"/>
            <a:ext cx="33832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b="1">
                <a:solidFill>
                  <a:srgbClr val="38BDF8"/>
                </a:solidFill>
                <a:latin typeface="Calibri"/>
                <a:ea typeface="Calibri"/>
                <a:cs typeface="Calibri"/>
              </a:rPr>
              <a:t>Goal</a:t>
            </a:r>
            <a:endParaRPr sz="1800"/>
          </a:p>
        </p:txBody>
      </p:sp>
      <p:sp>
        <p:nvSpPr>
          <p:cNvPr id="6" name="Text 3">
            <a:extLst xmlns:a="http://schemas.openxmlformats.org/drawingml/2006/main">
              <a:ext uri="{FF2B5EF4-FFF2-40B4-BE49-F238E27FC236}">
                <a16:creationId xmlns:a16="http://schemas.microsoft.com/office/drawing/2014/main" id="{2473C716-F603-49BB-978E-54C89FECF1C1}"/>
              </a:ext>
            </a:extLst>
          </p:cNvPr>
          <p:cNvSpPr>
            <a:spLocks xmlns:a="http://schemas.openxmlformats.org/drawingml/2006/main" noGrp="1"/>
          </p:cNvSpPr>
          <p:nvPr/>
        </p:nvSpPr>
        <p:spPr>
          <a:xfrm xmlns:a="http://schemas.openxmlformats.org/drawingml/2006/main">
            <a:off x="685800" y="1828800"/>
            <a:ext cx="3383280" cy="20116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a:solidFill>
                  <a:srgbClr val="F1F5F9"/>
                </a:solidFill>
                <a:latin typeface="Calibri"/>
                <a:ea typeface="Calibri"/>
                <a:cs typeface="Calibri"/>
              </a:rPr>
              <a:t>Improve traffic-speed prediction under changing conditions, while balancing accuracy, inference speed and robustness.</a:t>
            </a:r>
            <a:endParaRPr sz="1400"/>
          </a:p>
          <a:p xmlns:a="http://schemas.openxmlformats.org/drawingml/2006/main">
            <a:pPr marL="0" indent="0">
              <a:buNone/>
            </a:pPr>
            <a:endParaRPr sz="1400"/>
          </a:p>
          <a:p xmlns:a="http://schemas.openxmlformats.org/drawingml/2006/main">
            <a:pPr marL="0" indent="0">
              <a:buNone/>
            </a:pPr>
            <a:r>
              <a:rPr sz="1400">
                <a:solidFill>
                  <a:srgbClr val="F1F5F9"/>
                </a:solidFill>
                <a:latin typeface="Calibri"/>
                <a:ea typeface="Calibri"/>
                <a:cs typeface="Calibri"/>
              </a:rPr>
              <a:t>Approach: build a working forecaster first, then use NSGA-II to search for better architectures.</a:t>
            </a:r>
            <a:endParaRPr sz="1400"/>
          </a:p>
        </p:txBody>
      </p:sp>
      <p:sp>
        <p:nvSpPr>
          <p:cNvPr id="7" name="Shape 4">
            <a:extLst xmlns:a="http://schemas.openxmlformats.org/drawingml/2006/main">
              <a:ext uri="{FF2B5EF4-FFF2-40B4-BE49-F238E27FC236}">
                <a16:creationId xmlns:a16="http://schemas.microsoft.com/office/drawing/2014/main" id="{ED68134A-210C-490C-A5E8-5D89159B0D81}"/>
              </a:ext>
            </a:extLst>
          </p:cNvPr>
          <p:cNvSpPr>
            <a:spLocks xmlns:a="http://schemas.openxmlformats.org/drawingml/2006/main" noGrp="1"/>
          </p:cNvSpPr>
          <p:nvPr/>
        </p:nvSpPr>
        <p:spPr>
          <a:xfrm xmlns:a="http://schemas.openxmlformats.org/drawingml/2006/main">
            <a:off x="4572000" y="1188720"/>
            <a:ext cx="4114800" cy="822960"/>
          </a:xfrm>
          <a:prstGeom xmlns:a="http://schemas.openxmlformats.org/drawingml/2006/main" prst="roundRect">
            <a:avLst>
              <a:gd name="adj" fmla="val 13333"/>
            </a:avLst>
          </a:prstGeom>
          <a:solidFill xmlns:a="http://schemas.openxmlformats.org/drawingml/2006/main">
            <a:srgbClr val="1E293B"/>
          </a:solidFill>
          <a:ln xmlns:a="http://schemas.openxmlformats.org/drawingml/2006/main" w="12700">
            <a:solidFill>
              <a:srgbClr val="1E293B"/>
            </a:solidFill>
            <a:prstDash val="solid"/>
          </a:ln>
        </p:spPr>
      </p:sp>
      <p:sp>
        <p:nvSpPr>
          <p:cNvPr id="8" name="Text 5">
            <a:extLst xmlns:a="http://schemas.openxmlformats.org/drawingml/2006/main">
              <a:ext uri="{FF2B5EF4-FFF2-40B4-BE49-F238E27FC236}">
                <a16:creationId xmlns:a16="http://schemas.microsoft.com/office/drawing/2014/main" id="{B6C37261-259A-466E-823C-5BAC9588A52D}"/>
              </a:ext>
            </a:extLst>
          </p:cNvPr>
          <p:cNvSpPr>
            <a:spLocks xmlns:a="http://schemas.openxmlformats.org/drawingml/2006/main" noGrp="1"/>
          </p:cNvSpPr>
          <p:nvPr/>
        </p:nvSpPr>
        <p:spPr>
          <a:xfrm xmlns:a="http://schemas.openxmlformats.org/drawingml/2006/main">
            <a:off x="4754880" y="1188720"/>
            <a:ext cx="237744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F1F5F9"/>
                </a:solidFill>
                <a:latin typeface="Calibri"/>
                <a:ea typeface="Calibri"/>
                <a:cs typeface="Calibri"/>
              </a:rPr>
              <a:t>1  GNN+GRU speed forecaster</a:t>
            </a:r>
            <a:endParaRPr sz="1400"/>
          </a:p>
        </p:txBody>
      </p:sp>
      <p:sp>
        <p:nvSpPr>
          <p:cNvPr id="9" name="Shape 6">
            <a:extLst xmlns:a="http://schemas.openxmlformats.org/drawingml/2006/main">
              <a:ext uri="{FF2B5EF4-FFF2-40B4-BE49-F238E27FC236}">
                <a16:creationId xmlns:a16="http://schemas.microsoft.com/office/drawing/2014/main" id="{0B6B0A8C-8900-4DB7-892A-BDA0EADB1B07}"/>
              </a:ext>
            </a:extLst>
          </p:cNvPr>
          <p:cNvSpPr>
            <a:spLocks xmlns:a="http://schemas.openxmlformats.org/drawingml/2006/main" noGrp="1"/>
          </p:cNvSpPr>
          <p:nvPr/>
        </p:nvSpPr>
        <p:spPr>
          <a:xfrm xmlns:a="http://schemas.openxmlformats.org/drawingml/2006/main">
            <a:off x="7360920" y="1463040"/>
            <a:ext cx="1188720" cy="274320"/>
          </a:xfrm>
          <a:prstGeom xmlns:a="http://schemas.openxmlformats.org/drawingml/2006/main" prst="roundRect">
            <a:avLst>
              <a:gd name="adj" fmla="val 40000"/>
            </a:avLst>
          </a:prstGeom>
          <a:solidFill xmlns:a="http://schemas.openxmlformats.org/drawingml/2006/main">
            <a:srgbClr val="34D399"/>
          </a:solidFill>
          <a:ln xmlns:a="http://schemas.openxmlformats.org/drawingml/2006/main" w="12700">
            <a:solidFill>
              <a:srgbClr val="34D399"/>
            </a:solidFill>
            <a:prstDash val="solid"/>
          </a:ln>
        </p:spPr>
      </p:sp>
      <p:sp>
        <p:nvSpPr>
          <p:cNvPr id="10" name="Text 7">
            <a:extLst xmlns:a="http://schemas.openxmlformats.org/drawingml/2006/main">
              <a:ext uri="{FF2B5EF4-FFF2-40B4-BE49-F238E27FC236}">
                <a16:creationId xmlns:a16="http://schemas.microsoft.com/office/drawing/2014/main" id="{44E49A11-A4F3-42BE-ABA3-3C1BB71AF9F2}"/>
              </a:ext>
            </a:extLst>
          </p:cNvPr>
          <p:cNvSpPr>
            <a:spLocks xmlns:a="http://schemas.openxmlformats.org/drawingml/2006/main" noGrp="1"/>
          </p:cNvSpPr>
          <p:nvPr/>
        </p:nvSpPr>
        <p:spPr>
          <a:xfrm xmlns:a="http://schemas.openxmlformats.org/drawingml/2006/main">
            <a:off x="7360920" y="1463040"/>
            <a:ext cx="11887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0F172A"/>
                </a:solidFill>
                <a:latin typeface="Calibri"/>
                <a:ea typeface="Calibri"/>
                <a:cs typeface="Calibri"/>
              </a:rPr>
              <a:t>Implemented</a:t>
            </a:r>
            <a:endParaRPr sz="1100"/>
          </a:p>
        </p:txBody>
      </p:sp>
      <p:sp>
        <p:nvSpPr>
          <p:cNvPr id="11" name="Shape 8">
            <a:extLst xmlns:a="http://schemas.openxmlformats.org/drawingml/2006/main">
              <a:ext uri="{FF2B5EF4-FFF2-40B4-BE49-F238E27FC236}">
                <a16:creationId xmlns:a16="http://schemas.microsoft.com/office/drawing/2014/main" id="{0E801DE2-E3A0-4C80-935D-0E9D01F04EDB}"/>
              </a:ext>
            </a:extLst>
          </p:cNvPr>
          <p:cNvSpPr>
            <a:spLocks xmlns:a="http://schemas.openxmlformats.org/drawingml/2006/main" noGrp="1"/>
          </p:cNvSpPr>
          <p:nvPr/>
        </p:nvSpPr>
        <p:spPr>
          <a:xfrm xmlns:a="http://schemas.openxmlformats.org/drawingml/2006/main">
            <a:off x="4572000" y="2148840"/>
            <a:ext cx="4114800" cy="822960"/>
          </a:xfrm>
          <a:prstGeom xmlns:a="http://schemas.openxmlformats.org/drawingml/2006/main" prst="roundRect">
            <a:avLst>
              <a:gd name="adj" fmla="val 13333"/>
            </a:avLst>
          </a:prstGeom>
          <a:solidFill xmlns:a="http://schemas.openxmlformats.org/drawingml/2006/main">
            <a:srgbClr val="1E293B"/>
          </a:solidFill>
          <a:ln xmlns:a="http://schemas.openxmlformats.org/drawingml/2006/main" w="12700">
            <a:solidFill>
              <a:srgbClr val="1E293B"/>
            </a:solidFill>
            <a:prstDash val="solid"/>
          </a:ln>
        </p:spPr>
      </p:sp>
      <p:sp>
        <p:nvSpPr>
          <p:cNvPr id="12" name="Text 9">
            <a:extLst xmlns:a="http://schemas.openxmlformats.org/drawingml/2006/main">
              <a:ext uri="{FF2B5EF4-FFF2-40B4-BE49-F238E27FC236}">
                <a16:creationId xmlns:a16="http://schemas.microsoft.com/office/drawing/2014/main" id="{169655DC-BBE0-4F06-8D36-3328F5DE9FFF}"/>
              </a:ext>
            </a:extLst>
          </p:cNvPr>
          <p:cNvSpPr>
            <a:spLocks xmlns:a="http://schemas.openxmlformats.org/drawingml/2006/main" noGrp="1"/>
          </p:cNvSpPr>
          <p:nvPr/>
        </p:nvSpPr>
        <p:spPr>
          <a:xfrm xmlns:a="http://schemas.openxmlformats.org/drawingml/2006/main">
            <a:off x="4754880" y="2148840"/>
            <a:ext cx="237744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F1F5F9"/>
                </a:solidFill>
                <a:latin typeface="Calibri"/>
                <a:ea typeface="Calibri"/>
                <a:cs typeface="Calibri"/>
              </a:rPr>
              <a:t>2  NSGA-II architecture search</a:t>
            </a:r>
            <a:endParaRPr sz="1400"/>
          </a:p>
        </p:txBody>
      </p:sp>
      <p:sp>
        <p:nvSpPr>
          <p:cNvPr id="13" name="Shape 10">
            <a:extLst xmlns:a="http://schemas.openxmlformats.org/drawingml/2006/main">
              <a:ext uri="{FF2B5EF4-FFF2-40B4-BE49-F238E27FC236}">
                <a16:creationId xmlns:a16="http://schemas.microsoft.com/office/drawing/2014/main" id="{CD3B64BA-F530-4560-B79B-F5E24B4AFE01}"/>
              </a:ext>
            </a:extLst>
          </p:cNvPr>
          <p:cNvSpPr>
            <a:spLocks xmlns:a="http://schemas.openxmlformats.org/drawingml/2006/main" noGrp="1"/>
          </p:cNvSpPr>
          <p:nvPr/>
        </p:nvSpPr>
        <p:spPr>
          <a:xfrm xmlns:a="http://schemas.openxmlformats.org/drawingml/2006/main">
            <a:off x="7360920" y="2423160"/>
            <a:ext cx="1188720" cy="274320"/>
          </a:xfrm>
          <a:prstGeom xmlns:a="http://schemas.openxmlformats.org/drawingml/2006/main" prst="roundRect">
            <a:avLst>
              <a:gd name="adj" fmla="val 40000"/>
            </a:avLst>
          </a:prstGeom>
          <a:solidFill xmlns:a="http://schemas.openxmlformats.org/drawingml/2006/main">
            <a:srgbClr val="FBBF24"/>
          </a:solidFill>
          <a:ln xmlns:a="http://schemas.openxmlformats.org/drawingml/2006/main" w="12700">
            <a:solidFill>
              <a:srgbClr val="FBBF24"/>
            </a:solidFill>
            <a:prstDash val="solid"/>
          </a:ln>
        </p:spPr>
      </p:sp>
      <p:sp>
        <p:nvSpPr>
          <p:cNvPr id="14" name="Text 11">
            <a:extLst xmlns:a="http://schemas.openxmlformats.org/drawingml/2006/main">
              <a:ext uri="{FF2B5EF4-FFF2-40B4-BE49-F238E27FC236}">
                <a16:creationId xmlns:a16="http://schemas.microsoft.com/office/drawing/2014/main" id="{256AD9F5-82E2-4F58-971F-A0FC6082F52C}"/>
              </a:ext>
            </a:extLst>
          </p:cNvPr>
          <p:cNvSpPr>
            <a:spLocks xmlns:a="http://schemas.openxmlformats.org/drawingml/2006/main" noGrp="1"/>
          </p:cNvSpPr>
          <p:nvPr/>
        </p:nvSpPr>
        <p:spPr>
          <a:xfrm xmlns:a="http://schemas.openxmlformats.org/drawingml/2006/main">
            <a:off x="7360920" y="2423160"/>
            <a:ext cx="11887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0F172A"/>
                </a:solidFill>
                <a:latin typeface="Calibri"/>
                <a:ea typeface="Calibri"/>
                <a:cs typeface="Calibri"/>
              </a:rPr>
              <a:t>Planned</a:t>
            </a:r>
            <a:endParaRPr sz="1100"/>
          </a:p>
        </p:txBody>
      </p:sp>
      <p:sp>
        <p:nvSpPr>
          <p:cNvPr id="15" name="Shape 12">
            <a:extLst xmlns:a="http://schemas.openxmlformats.org/drawingml/2006/main">
              <a:ext uri="{FF2B5EF4-FFF2-40B4-BE49-F238E27FC236}">
                <a16:creationId xmlns:a16="http://schemas.microsoft.com/office/drawing/2014/main" id="{4FBE31F0-0182-4775-BD0F-445EBD7A958B}"/>
              </a:ext>
            </a:extLst>
          </p:cNvPr>
          <p:cNvSpPr>
            <a:spLocks xmlns:a="http://schemas.openxmlformats.org/drawingml/2006/main" noGrp="1"/>
          </p:cNvSpPr>
          <p:nvPr/>
        </p:nvSpPr>
        <p:spPr>
          <a:xfrm xmlns:a="http://schemas.openxmlformats.org/drawingml/2006/main">
            <a:off x="4572000" y="3108960"/>
            <a:ext cx="4114800" cy="822960"/>
          </a:xfrm>
          <a:prstGeom xmlns:a="http://schemas.openxmlformats.org/drawingml/2006/main" prst="roundRect">
            <a:avLst>
              <a:gd name="adj" fmla="val 13333"/>
            </a:avLst>
          </a:prstGeom>
          <a:solidFill xmlns:a="http://schemas.openxmlformats.org/drawingml/2006/main">
            <a:srgbClr val="1E293B"/>
          </a:solidFill>
          <a:ln xmlns:a="http://schemas.openxmlformats.org/drawingml/2006/main" w="12700">
            <a:solidFill>
              <a:srgbClr val="1E293B"/>
            </a:solidFill>
            <a:prstDash val="solid"/>
          </a:ln>
        </p:spPr>
      </p:sp>
      <p:sp>
        <p:nvSpPr>
          <p:cNvPr id="16" name="Text 13">
            <a:extLst xmlns:a="http://schemas.openxmlformats.org/drawingml/2006/main">
              <a:ext uri="{FF2B5EF4-FFF2-40B4-BE49-F238E27FC236}">
                <a16:creationId xmlns:a16="http://schemas.microsoft.com/office/drawing/2014/main" id="{6569FA58-21D0-4DEA-9A9C-1F582ECF9CD5}"/>
              </a:ext>
            </a:extLst>
          </p:cNvPr>
          <p:cNvSpPr>
            <a:spLocks xmlns:a="http://schemas.openxmlformats.org/drawingml/2006/main" noGrp="1"/>
          </p:cNvSpPr>
          <p:nvPr/>
        </p:nvSpPr>
        <p:spPr>
          <a:xfrm xmlns:a="http://schemas.openxmlformats.org/drawingml/2006/main">
            <a:off x="4754880" y="3108960"/>
            <a:ext cx="237744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F1F5F9"/>
                </a:solidFill>
                <a:latin typeface="Calibri"/>
                <a:ea typeface="Calibri"/>
                <a:cs typeface="Calibri"/>
              </a:rPr>
              <a:t>3  Incident prediction</a:t>
            </a:r>
            <a:endParaRPr sz="1400"/>
          </a:p>
        </p:txBody>
      </p:sp>
      <p:sp>
        <p:nvSpPr>
          <p:cNvPr id="17" name="Shape 14">
            <a:extLst xmlns:a="http://schemas.openxmlformats.org/drawingml/2006/main">
              <a:ext uri="{FF2B5EF4-FFF2-40B4-BE49-F238E27FC236}">
                <a16:creationId xmlns:a16="http://schemas.microsoft.com/office/drawing/2014/main" id="{1C9C6309-CEF1-4356-A4BA-32CD6AFE674F}"/>
              </a:ext>
            </a:extLst>
          </p:cNvPr>
          <p:cNvSpPr>
            <a:spLocks xmlns:a="http://schemas.openxmlformats.org/drawingml/2006/main" noGrp="1"/>
          </p:cNvSpPr>
          <p:nvPr/>
        </p:nvSpPr>
        <p:spPr>
          <a:xfrm xmlns:a="http://schemas.openxmlformats.org/drawingml/2006/main">
            <a:off x="7360920" y="3383280"/>
            <a:ext cx="1188720" cy="274320"/>
          </a:xfrm>
          <a:prstGeom xmlns:a="http://schemas.openxmlformats.org/drawingml/2006/main" prst="roundRect">
            <a:avLst>
              <a:gd name="adj" fmla="val 40000"/>
            </a:avLst>
          </a:prstGeom>
          <a:solidFill xmlns:a="http://schemas.openxmlformats.org/drawingml/2006/main">
            <a:srgbClr val="FBBF24"/>
          </a:solidFill>
          <a:ln xmlns:a="http://schemas.openxmlformats.org/drawingml/2006/main" w="12700">
            <a:solidFill>
              <a:srgbClr val="FBBF24"/>
            </a:solidFill>
            <a:prstDash val="solid"/>
          </a:ln>
        </p:spPr>
      </p:sp>
      <p:sp>
        <p:nvSpPr>
          <p:cNvPr id="18" name="Text 15">
            <a:extLst xmlns:a="http://schemas.openxmlformats.org/drawingml/2006/main">
              <a:ext uri="{FF2B5EF4-FFF2-40B4-BE49-F238E27FC236}">
                <a16:creationId xmlns:a16="http://schemas.microsoft.com/office/drawing/2014/main" id="{C435417A-E893-4B85-9CE5-E4666DF6FDED}"/>
              </a:ext>
            </a:extLst>
          </p:cNvPr>
          <p:cNvSpPr>
            <a:spLocks xmlns:a="http://schemas.openxmlformats.org/drawingml/2006/main" noGrp="1"/>
          </p:cNvSpPr>
          <p:nvPr/>
        </p:nvSpPr>
        <p:spPr>
          <a:xfrm xmlns:a="http://schemas.openxmlformats.org/drawingml/2006/main">
            <a:off x="7360920" y="3383280"/>
            <a:ext cx="11887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0F172A"/>
                </a:solidFill>
                <a:latin typeface="Calibri"/>
                <a:ea typeface="Calibri"/>
                <a:cs typeface="Calibri"/>
              </a:rPr>
              <a:t>Planned</a:t>
            </a:r>
            <a:endParaRPr sz="1100"/>
          </a:p>
        </p:txBody>
      </p:sp>
      <p:sp>
        <p:nvSpPr>
          <p:cNvPr id="19" name="Text 16">
            <a:extLst xmlns:a="http://schemas.openxmlformats.org/drawingml/2006/main">
              <a:ext uri="{FF2B5EF4-FFF2-40B4-BE49-F238E27FC236}">
                <a16:creationId xmlns:a16="http://schemas.microsoft.com/office/drawing/2014/main" id="{618DCBBA-6BE4-44AF-937E-274C1793D3B7}"/>
              </a:ext>
            </a:extLst>
          </p:cNvPr>
          <p:cNvSpPr>
            <a:spLocks xmlns:a="http://schemas.openxmlformats.org/drawingml/2006/main" noGrp="1"/>
          </p:cNvSpPr>
          <p:nvPr/>
        </p:nvSpPr>
        <p:spPr>
          <a:xfrm xmlns:a="http://schemas.openxmlformats.org/drawingml/2006/main">
            <a:off x="457200" y="4206240"/>
            <a:ext cx="82296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a:solidFill>
                  <a:srgbClr val="FBBF24"/>
                </a:solidFill>
                <a:latin typeface="Calibri"/>
                <a:ea typeface="Calibri"/>
                <a:cs typeface="Calibri"/>
              </a:rPr>
              <a:t>Planned objectives (goals, not results): prediction error · model size / latency · robustness under shift</a:t>
            </a:r>
            <a:endParaRPr sz="1300"/>
          </a:p>
        </p:txBody>
      </p:sp>
    </p:spTree>
    <p:extLst>
      <p:ext uri="{BB962C8B-B14F-4D97-AF65-F5344CB8AC3E}">
        <p14:creationId xmlns:p14="http://schemas.microsoft.com/office/powerpoint/2010/main" val="2144044285"/>
      </p:ext>
    </p:extLst>
  </p:cSld>
</p:sld>
</file>

<file path=ppt/slides/slide4.xml><?xml version="1.0" encoding="utf-8"?>
<p:sld xmlns:p="http://schemas.openxmlformats.org/presentationml/2006/main">
  <p:cSld>
    <p:bg>
      <p:bgPr>
        <a:solidFill xmlns:a="http://schemas.openxmlformats.org/drawingml/2006/main">
          <a:srgbClr val="0F172A"/>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6E0176D-A1CA-4EB9-9544-7A3A70D4FC72}"/>
              </a:ext>
            </a:extLst>
          </p:cNvPr>
          <p:cNvSpPr>
            <a:spLocks xmlns:a="http://schemas.openxmlformats.org/drawingml/2006/main" noGrp="1"/>
          </p:cNvSpPr>
          <p:nvPr/>
        </p:nvSpPr>
        <p:spPr>
          <a:xfrm xmlns:a="http://schemas.openxmlformats.org/drawingml/2006/main">
            <a:off x="457200" y="274320"/>
            <a:ext cx="822960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b="1">
                <a:solidFill>
                  <a:srgbClr val="F1F5F9"/>
                </a:solidFill>
                <a:latin typeface="Calibri"/>
                <a:ea typeface="Calibri"/>
                <a:cs typeface="Calibri"/>
              </a:rPr>
              <a:t>What is implemented now</a:t>
            </a:r>
            <a:endParaRPr sz="2800"/>
          </a:p>
        </p:txBody>
      </p:sp>
      <p:sp>
        <p:nvSpPr>
          <p:cNvPr id="4" name="Shape 1">
            <a:extLst xmlns:a="http://schemas.openxmlformats.org/drawingml/2006/main">
              <a:ext uri="{FF2B5EF4-FFF2-40B4-BE49-F238E27FC236}">
                <a16:creationId xmlns:a16="http://schemas.microsoft.com/office/drawing/2014/main" id="{393506B8-911D-4BB0-8977-D5008DB453B1}"/>
              </a:ext>
            </a:extLst>
          </p:cNvPr>
          <p:cNvSpPr>
            <a:spLocks xmlns:a="http://schemas.openxmlformats.org/drawingml/2006/main" noGrp="1"/>
          </p:cNvSpPr>
          <p:nvPr/>
        </p:nvSpPr>
        <p:spPr>
          <a:xfrm xmlns:a="http://schemas.openxmlformats.org/drawingml/2006/main">
            <a:off x="457200" y="1188720"/>
            <a:ext cx="4023360" cy="3291840"/>
          </a:xfrm>
          <a:prstGeom xmlns:a="http://schemas.openxmlformats.org/drawingml/2006/main" prst="roundRect">
            <a:avLst>
              <a:gd name="adj" fmla="val 3333"/>
            </a:avLst>
          </a:prstGeom>
          <a:solidFill xmlns:a="http://schemas.openxmlformats.org/drawingml/2006/main">
            <a:srgbClr val="1E293B"/>
          </a:solidFill>
          <a:ln xmlns:a="http://schemas.openxmlformats.org/drawingml/2006/main" w="12700">
            <a:solidFill>
              <a:srgbClr val="1E293B"/>
            </a:solidFill>
            <a:prstDash val="solid"/>
          </a:ln>
        </p:spPr>
      </p:sp>
      <p:sp>
        <p:nvSpPr>
          <p:cNvPr id="5" name="Shape 2">
            <a:extLst xmlns:a="http://schemas.openxmlformats.org/drawingml/2006/main">
              <a:ext uri="{FF2B5EF4-FFF2-40B4-BE49-F238E27FC236}">
                <a16:creationId xmlns:a16="http://schemas.microsoft.com/office/drawing/2014/main" id="{266F02ED-7A79-482E-AD84-4390969898B7}"/>
              </a:ext>
            </a:extLst>
          </p:cNvPr>
          <p:cNvSpPr>
            <a:spLocks xmlns:a="http://schemas.openxmlformats.org/drawingml/2006/main" noGrp="1"/>
          </p:cNvSpPr>
          <p:nvPr/>
        </p:nvSpPr>
        <p:spPr>
          <a:xfrm xmlns:a="http://schemas.openxmlformats.org/drawingml/2006/main">
            <a:off x="4663440" y="1188720"/>
            <a:ext cx="4023360" cy="3291840"/>
          </a:xfrm>
          <a:prstGeom xmlns:a="http://schemas.openxmlformats.org/drawingml/2006/main" prst="roundRect">
            <a:avLst>
              <a:gd name="adj" fmla="val 3333"/>
            </a:avLst>
          </a:prstGeom>
          <a:solidFill xmlns:a="http://schemas.openxmlformats.org/drawingml/2006/main">
            <a:srgbClr val="1E293B"/>
          </a:solidFill>
          <a:ln xmlns:a="http://schemas.openxmlformats.org/drawingml/2006/main" w="12700">
            <a:solidFill>
              <a:srgbClr val="1E293B"/>
            </a:solidFill>
            <a:prstDash val="solid"/>
          </a:ln>
        </p:spPr>
      </p:sp>
      <p:sp>
        <p:nvSpPr>
          <p:cNvPr id="6" name="Text 3">
            <a:extLst xmlns:a="http://schemas.openxmlformats.org/drawingml/2006/main">
              <a:ext uri="{FF2B5EF4-FFF2-40B4-BE49-F238E27FC236}">
                <a16:creationId xmlns:a16="http://schemas.microsoft.com/office/drawing/2014/main" id="{3A713D48-602A-46DF-8078-D8C1DE251FAC}"/>
              </a:ext>
            </a:extLst>
          </p:cNvPr>
          <p:cNvSpPr>
            <a:spLocks xmlns:a="http://schemas.openxmlformats.org/drawingml/2006/main" noGrp="1"/>
          </p:cNvSpPr>
          <p:nvPr/>
        </p:nvSpPr>
        <p:spPr>
          <a:xfrm xmlns:a="http://schemas.openxmlformats.org/drawingml/2006/main">
            <a:off x="685800" y="1371600"/>
            <a:ext cx="36576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b="1">
                <a:solidFill>
                  <a:srgbClr val="34D399"/>
                </a:solidFill>
                <a:latin typeface="Calibri"/>
                <a:ea typeface="Calibri"/>
                <a:cs typeface="Calibri"/>
              </a:rPr>
              <a:t>Done (verified)</a:t>
            </a:r>
            <a:endParaRPr sz="1800"/>
          </a:p>
        </p:txBody>
      </p:sp>
      <p:sp>
        <p:nvSpPr>
          <p:cNvPr id="7" name="Text 4">
            <a:extLst xmlns:a="http://schemas.openxmlformats.org/drawingml/2006/main">
              <a:ext uri="{FF2B5EF4-FFF2-40B4-BE49-F238E27FC236}">
                <a16:creationId xmlns:a16="http://schemas.microsoft.com/office/drawing/2014/main" id="{7013123B-CE0C-4610-AA74-6A149886C5B3}"/>
              </a:ext>
            </a:extLst>
          </p:cNvPr>
          <p:cNvSpPr>
            <a:spLocks xmlns:a="http://schemas.openxmlformats.org/drawingml/2006/main" noGrp="1"/>
          </p:cNvSpPr>
          <p:nvPr/>
        </p:nvSpPr>
        <p:spPr>
          <a:xfrm xmlns:a="http://schemas.openxmlformats.org/drawingml/2006/main">
            <a:off x="685800" y="1874520"/>
            <a:ext cx="3566160" cy="2468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spcAft>
                <a:spcPts val="600"/>
              </a:spcAft>
              <a:buSzPct val="100000"/>
              <a:buChar char="•"/>
            </a:pPr>
            <a:r>
              <a:rPr sz="1400">
                <a:solidFill>
                  <a:srgbClr val="F1F5F9"/>
                </a:solidFill>
                <a:latin typeface="Calibri"/>
                <a:ea typeface="Calibri"/>
                <a:cs typeface="Calibri"/>
              </a:rPr>
              <a:t>GNN+GRU speed forecaster</a:t>
            </a:r>
            <a:endParaRPr sz="1400"/>
          </a:p>
          <a:p xmlns:a="http://schemas.openxmlformats.org/drawingml/2006/main">
            <a:pPr marL="342900" indent="-342900">
              <a:spcAft>
                <a:spcPts val="600"/>
              </a:spcAft>
              <a:buSzPct val="100000"/>
              <a:buChar char="•"/>
            </a:pPr>
            <a:r>
              <a:rPr sz="1400">
                <a:solidFill>
                  <a:srgbClr val="F1F5F9"/>
                </a:solidFill>
                <a:latin typeface="Calibri"/>
                <a:ea typeface="Calibri"/>
                <a:cs typeface="Calibri"/>
              </a:rPr>
              <a:t>Full training run completed (3 epochs)</a:t>
            </a:r>
            <a:endParaRPr sz="1400"/>
          </a:p>
          <a:p xmlns:a="http://schemas.openxmlformats.org/drawingml/2006/main">
            <a:pPr marL="342900" indent="-342900">
              <a:spcAft>
                <a:spcPts val="600"/>
              </a:spcAft>
              <a:buSzPct val="100000"/>
              <a:buChar char="•"/>
            </a:pPr>
            <a:r>
              <a:rPr sz="1400">
                <a:solidFill>
                  <a:srgbClr val="F1F5F9"/>
                </a:solidFill>
                <a:latin typeface="Calibri"/>
                <a:ea typeface="Calibri"/>
                <a:cs typeface="Calibri"/>
              </a:rPr>
              <a:t>Best validation MAE recorded</a:t>
            </a:r>
            <a:endParaRPr sz="1400"/>
          </a:p>
          <a:p xmlns:a="http://schemas.openxmlformats.org/drawingml/2006/main">
            <a:pPr marL="342900" indent="-342900">
              <a:spcAft>
                <a:spcPts val="600"/>
              </a:spcAft>
              <a:buSzPct val="100000"/>
              <a:buChar char="•"/>
            </a:pPr>
            <a:r>
              <a:rPr sz="1400">
                <a:solidFill>
                  <a:srgbClr val="F1F5F9"/>
                </a:solidFill>
                <a:latin typeface="Calibri"/>
                <a:ea typeface="Calibri"/>
                <a:cs typeface="Calibri"/>
              </a:rPr>
              <a:t>Model checkpoint saved</a:t>
            </a:r>
            <a:endParaRPr sz="1400"/>
          </a:p>
          <a:p xmlns:a="http://schemas.openxmlformats.org/drawingml/2006/main">
            <a:pPr marL="342900" indent="-342900">
              <a:spcAft>
                <a:spcPts val="600"/>
              </a:spcAft>
              <a:buSzPct val="100000"/>
              <a:buChar char="•"/>
            </a:pPr>
            <a:r>
              <a:rPr sz="1400">
                <a:solidFill>
                  <a:srgbClr val="F1F5F9"/>
                </a:solidFill>
                <a:latin typeface="Calibri"/>
                <a:ea typeface="Calibri"/>
                <a:cs typeface="Calibri"/>
              </a:rPr>
              <a:t>Training summary saved</a:t>
            </a:r>
            <a:endParaRPr sz="1400"/>
          </a:p>
        </p:txBody>
      </p:sp>
      <p:sp>
        <p:nvSpPr>
          <p:cNvPr id="8" name="Text 5">
            <a:extLst xmlns:a="http://schemas.openxmlformats.org/drawingml/2006/main">
              <a:ext uri="{FF2B5EF4-FFF2-40B4-BE49-F238E27FC236}">
                <a16:creationId xmlns:a16="http://schemas.microsoft.com/office/drawing/2014/main" id="{31BA8620-6415-4729-B5CD-D160B752A426}"/>
              </a:ext>
            </a:extLst>
          </p:cNvPr>
          <p:cNvSpPr>
            <a:spLocks xmlns:a="http://schemas.openxmlformats.org/drawingml/2006/main" noGrp="1"/>
          </p:cNvSpPr>
          <p:nvPr/>
        </p:nvSpPr>
        <p:spPr>
          <a:xfrm xmlns:a="http://schemas.openxmlformats.org/drawingml/2006/main">
            <a:off x="4892040" y="1371600"/>
            <a:ext cx="36576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b="1">
                <a:solidFill>
                  <a:srgbClr val="FBBF24"/>
                </a:solidFill>
                <a:latin typeface="Calibri"/>
                <a:ea typeface="Calibri"/>
                <a:cs typeface="Calibri"/>
              </a:rPr>
              <a:t>Not done yet</a:t>
            </a:r>
            <a:endParaRPr sz="1800"/>
          </a:p>
        </p:txBody>
      </p:sp>
      <p:sp>
        <p:nvSpPr>
          <p:cNvPr id="9" name="Text 6">
            <a:extLst xmlns:a="http://schemas.openxmlformats.org/drawingml/2006/main">
              <a:ext uri="{FF2B5EF4-FFF2-40B4-BE49-F238E27FC236}">
                <a16:creationId xmlns:a16="http://schemas.microsoft.com/office/drawing/2014/main" id="{19EA9EBA-C278-421F-896F-419B6596CF97}"/>
              </a:ext>
            </a:extLst>
          </p:cNvPr>
          <p:cNvSpPr>
            <a:spLocks xmlns:a="http://schemas.openxmlformats.org/drawingml/2006/main" noGrp="1"/>
          </p:cNvSpPr>
          <p:nvPr/>
        </p:nvSpPr>
        <p:spPr>
          <a:xfrm xmlns:a="http://schemas.openxmlformats.org/drawingml/2006/main">
            <a:off x="4892040" y="1874520"/>
            <a:ext cx="3566160" cy="2468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spcAft>
                <a:spcPts val="600"/>
              </a:spcAft>
              <a:buSzPct val="100000"/>
              <a:buChar char="•"/>
            </a:pPr>
            <a:r>
              <a:rPr sz="1400">
                <a:solidFill>
                  <a:srgbClr val="F1F5F9"/>
                </a:solidFill>
                <a:latin typeface="Calibri"/>
                <a:ea typeface="Calibri"/>
                <a:cs typeface="Calibri"/>
              </a:rPr>
              <a:t>Test MAE not measured</a:t>
            </a:r>
            <a:endParaRPr sz="1400"/>
          </a:p>
          <a:p xmlns:a="http://schemas.openxmlformats.org/drawingml/2006/main">
            <a:pPr marL="342900" indent="-342900">
              <a:spcAft>
                <a:spcPts val="600"/>
              </a:spcAft>
              <a:buSzPct val="100000"/>
              <a:buChar char="•"/>
            </a:pPr>
            <a:r>
              <a:rPr sz="1400">
                <a:solidFill>
                  <a:srgbClr val="F1F5F9"/>
                </a:solidFill>
                <a:latin typeface="Calibri"/>
                <a:ea typeface="Calibri"/>
                <a:cs typeface="Calibri"/>
              </a:rPr>
              <a:t>NSGA-II architecture search</a:t>
            </a:r>
            <a:endParaRPr sz="1400"/>
          </a:p>
          <a:p xmlns:a="http://schemas.openxmlformats.org/drawingml/2006/main">
            <a:pPr marL="342900" indent="-342900">
              <a:spcAft>
                <a:spcPts val="600"/>
              </a:spcAft>
              <a:buSzPct val="100000"/>
              <a:buChar char="•"/>
            </a:pPr>
            <a:r>
              <a:rPr sz="1400">
                <a:solidFill>
                  <a:srgbClr val="F1F5F9"/>
                </a:solidFill>
                <a:latin typeface="Calibri"/>
                <a:ea typeface="Calibri"/>
                <a:cs typeface="Calibri"/>
              </a:rPr>
              <a:t>Incident prediction</a:t>
            </a:r>
            <a:endParaRPr sz="1400"/>
          </a:p>
          <a:p xmlns:a="http://schemas.openxmlformats.org/drawingml/2006/main">
            <a:pPr marL="342900" indent="-342900">
              <a:spcAft>
                <a:spcPts val="600"/>
              </a:spcAft>
              <a:buSzPct val="100000"/>
              <a:buChar char="•"/>
            </a:pPr>
            <a:r>
              <a:rPr sz="1400">
                <a:solidFill>
                  <a:srgbClr val="F1F5F9"/>
                </a:solidFill>
                <a:latin typeface="Calibri"/>
                <a:ea typeface="Calibri"/>
                <a:cs typeface="Calibri"/>
              </a:rPr>
              <a:t>Baseline comparisons</a:t>
            </a:r>
            <a:endParaRPr sz="1400"/>
          </a:p>
          <a:p xmlns:a="http://schemas.openxmlformats.org/drawingml/2006/main">
            <a:pPr marL="342900" indent="-342900">
              <a:spcAft>
                <a:spcPts val="600"/>
              </a:spcAft>
              <a:buSzPct val="100000"/>
              <a:buChar char="•"/>
            </a:pPr>
            <a:r>
              <a:rPr sz="1400">
                <a:solidFill>
                  <a:srgbClr val="F1F5F9"/>
                </a:solidFill>
                <a:latin typeface="Calibri"/>
                <a:ea typeface="Calibri"/>
                <a:cs typeface="Calibri"/>
              </a:rPr>
              <a:t>Robustness tests under shift</a:t>
            </a:r>
            <a:endParaRPr sz="1400"/>
          </a:p>
        </p:txBody>
      </p:sp>
    </p:spTree>
    <p:extLst>
      <p:ext uri="{BB962C8B-B14F-4D97-AF65-F5344CB8AC3E}">
        <p14:creationId xmlns:p14="http://schemas.microsoft.com/office/powerpoint/2010/main" val="508566532"/>
      </p:ext>
    </p:extLst>
  </p:cSld>
</p:sld>
</file>

<file path=ppt/slides/slide5.xml><?xml version="1.0" encoding="utf-8"?>
<p:sld xmlns:p="http://schemas.openxmlformats.org/presentationml/2006/main">
  <p:cSld>
    <p:bg>
      <p:bgPr>
        <a:solidFill xmlns:a="http://schemas.openxmlformats.org/drawingml/2006/main">
          <a:srgbClr val="0F172A"/>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F2893C5-8037-4613-A530-4930ACB10CBB}"/>
              </a:ext>
            </a:extLst>
          </p:cNvPr>
          <p:cNvSpPr>
            <a:spLocks xmlns:a="http://schemas.openxmlformats.org/drawingml/2006/main" noGrp="1"/>
          </p:cNvSpPr>
          <p:nvPr/>
        </p:nvSpPr>
        <p:spPr>
          <a:xfrm xmlns:a="http://schemas.openxmlformats.org/drawingml/2006/main">
            <a:off x="457200" y="274320"/>
            <a:ext cx="822960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b="1">
                <a:solidFill>
                  <a:srgbClr val="F1F5F9"/>
                </a:solidFill>
                <a:latin typeface="Calibri"/>
                <a:ea typeface="Calibri"/>
                <a:cs typeface="Calibri"/>
              </a:rPr>
              <a:t>GNN + GRU, explained simply</a:t>
            </a:r>
            <a:endParaRPr sz="2800"/>
          </a:p>
        </p:txBody>
      </p:sp>
      <p:sp>
        <p:nvSpPr>
          <p:cNvPr id="4" name="Shape 1">
            <a:extLst xmlns:a="http://schemas.openxmlformats.org/drawingml/2006/main">
              <a:ext uri="{FF2B5EF4-FFF2-40B4-BE49-F238E27FC236}">
                <a16:creationId xmlns:a16="http://schemas.microsoft.com/office/drawing/2014/main" id="{623F5524-85F0-45B8-9412-74583ECE3AE5}"/>
              </a:ext>
            </a:extLst>
          </p:cNvPr>
          <p:cNvSpPr>
            <a:spLocks xmlns:a="http://schemas.openxmlformats.org/drawingml/2006/main" noGrp="1"/>
          </p:cNvSpPr>
          <p:nvPr/>
        </p:nvSpPr>
        <p:spPr>
          <a:xfrm xmlns:a="http://schemas.openxmlformats.org/drawingml/2006/main">
            <a:off x="457200" y="1188720"/>
            <a:ext cx="1737360" cy="1737360"/>
          </a:xfrm>
          <a:prstGeom xmlns:a="http://schemas.openxmlformats.org/drawingml/2006/main" prst="roundRect">
            <a:avLst>
              <a:gd name="adj" fmla="val 6316"/>
            </a:avLst>
          </a:prstGeom>
          <a:solidFill xmlns:a="http://schemas.openxmlformats.org/drawingml/2006/main">
            <a:srgbClr val="1E293B"/>
          </a:solidFill>
          <a:ln xmlns:a="http://schemas.openxmlformats.org/drawingml/2006/main" w="12700">
            <a:solidFill>
              <a:srgbClr val="1E293B"/>
            </a:solidFill>
            <a:prstDash val="solid"/>
          </a:ln>
        </p:spPr>
      </p:sp>
      <p:sp>
        <p:nvSpPr>
          <p:cNvPr id="5" name="Text 2">
            <a:extLst xmlns:a="http://schemas.openxmlformats.org/drawingml/2006/main">
              <a:ext uri="{FF2B5EF4-FFF2-40B4-BE49-F238E27FC236}">
                <a16:creationId xmlns:a16="http://schemas.microsoft.com/office/drawing/2014/main" id="{1C915B78-CB23-4AA0-A24A-7EDBC7787925}"/>
              </a:ext>
            </a:extLst>
          </p:cNvPr>
          <p:cNvSpPr>
            <a:spLocks xmlns:a="http://schemas.openxmlformats.org/drawingml/2006/main" noGrp="1"/>
          </p:cNvSpPr>
          <p:nvPr/>
        </p:nvSpPr>
        <p:spPr>
          <a:xfrm xmlns:a="http://schemas.openxmlformats.org/drawingml/2006/main">
            <a:off x="594360" y="1325880"/>
            <a:ext cx="14630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600" b="1">
                <a:solidFill>
                  <a:srgbClr val="38BDF8"/>
                </a:solidFill>
                <a:latin typeface="Calibri"/>
                <a:ea typeface="Calibri"/>
                <a:cs typeface="Calibri"/>
              </a:rPr>
              <a:t>Input</a:t>
            </a:r>
            <a:endParaRPr sz="1600"/>
          </a:p>
        </p:txBody>
      </p:sp>
      <p:sp>
        <p:nvSpPr>
          <p:cNvPr id="6" name="Text 3">
            <a:extLst xmlns:a="http://schemas.openxmlformats.org/drawingml/2006/main">
              <a:ext uri="{FF2B5EF4-FFF2-40B4-BE49-F238E27FC236}">
                <a16:creationId xmlns:a16="http://schemas.microsoft.com/office/drawing/2014/main" id="{16723871-03BE-4996-A315-066267598ACC}"/>
              </a:ext>
            </a:extLst>
          </p:cNvPr>
          <p:cNvSpPr>
            <a:spLocks xmlns:a="http://schemas.openxmlformats.org/drawingml/2006/main" noGrp="1"/>
          </p:cNvSpPr>
          <p:nvPr/>
        </p:nvSpPr>
        <p:spPr>
          <a:xfrm xmlns:a="http://schemas.openxmlformats.org/drawingml/2006/main">
            <a:off x="594360" y="1783080"/>
            <a:ext cx="146304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a:solidFill>
                  <a:srgbClr val="F1F5F9"/>
                </a:solidFill>
                <a:latin typeface="Calibri"/>
                <a:ea typeface="Calibri"/>
                <a:cs typeface="Calibri"/>
              </a:rPr>
              <a:t>Recent speeds from 207 road sensors</a:t>
            </a:r>
            <a:endParaRPr sz="1200"/>
          </a:p>
        </p:txBody>
      </p:sp>
      <p:sp>
        <p:nvSpPr>
          <p:cNvPr id="7" name="Shape 4">
            <a:extLst xmlns:a="http://schemas.openxmlformats.org/drawingml/2006/main">
              <a:ext uri="{FF2B5EF4-FFF2-40B4-BE49-F238E27FC236}">
                <a16:creationId xmlns:a16="http://schemas.microsoft.com/office/drawing/2014/main" id="{4B1DB55E-7232-477A-9BE7-31EFF0E5FEB1}"/>
              </a:ext>
            </a:extLst>
          </p:cNvPr>
          <p:cNvSpPr>
            <a:spLocks xmlns:a="http://schemas.openxmlformats.org/drawingml/2006/main" noGrp="1"/>
          </p:cNvSpPr>
          <p:nvPr/>
        </p:nvSpPr>
        <p:spPr>
          <a:xfrm xmlns:a="http://schemas.openxmlformats.org/drawingml/2006/main">
            <a:off x="2212848" y="2057400"/>
            <a:ext cx="347472" cy="0"/>
          </a:xfrm>
          <a:prstGeom xmlns:a="http://schemas.openxmlformats.org/drawingml/2006/main" prst="line">
            <a:avLst/>
          </a:prstGeom>
          <a:noFill xmlns:a="http://schemas.openxmlformats.org/drawingml/2006/main"/>
          <a:ln xmlns:a="http://schemas.openxmlformats.org/drawingml/2006/main" w="25400">
            <a:solidFill>
              <a:srgbClr val="94A3B8"/>
            </a:solidFill>
            <a:prstDash val="solid"/>
            <a:tailEnd type="triangle"/>
          </a:ln>
        </p:spPr>
      </p:sp>
      <p:sp>
        <p:nvSpPr>
          <p:cNvPr id="8" name="Shape 5">
            <a:extLst xmlns:a="http://schemas.openxmlformats.org/drawingml/2006/main">
              <a:ext uri="{FF2B5EF4-FFF2-40B4-BE49-F238E27FC236}">
                <a16:creationId xmlns:a16="http://schemas.microsoft.com/office/drawing/2014/main" id="{4756781D-FF43-4B3F-AB9D-323700FDEB44}"/>
              </a:ext>
            </a:extLst>
          </p:cNvPr>
          <p:cNvSpPr>
            <a:spLocks xmlns:a="http://schemas.openxmlformats.org/drawingml/2006/main" noGrp="1"/>
          </p:cNvSpPr>
          <p:nvPr/>
        </p:nvSpPr>
        <p:spPr>
          <a:xfrm xmlns:a="http://schemas.openxmlformats.org/drawingml/2006/main">
            <a:off x="2624328" y="1188720"/>
            <a:ext cx="1737360" cy="1737360"/>
          </a:xfrm>
          <a:prstGeom xmlns:a="http://schemas.openxmlformats.org/drawingml/2006/main" prst="roundRect">
            <a:avLst>
              <a:gd name="adj" fmla="val 6316"/>
            </a:avLst>
          </a:prstGeom>
          <a:solidFill xmlns:a="http://schemas.openxmlformats.org/drawingml/2006/main">
            <a:srgbClr val="1E293B"/>
          </a:solidFill>
          <a:ln xmlns:a="http://schemas.openxmlformats.org/drawingml/2006/main" w="12700">
            <a:solidFill>
              <a:srgbClr val="1E293B"/>
            </a:solidFill>
            <a:prstDash val="solid"/>
          </a:ln>
        </p:spPr>
      </p:sp>
      <p:sp>
        <p:nvSpPr>
          <p:cNvPr id="9" name="Text 6">
            <a:extLst xmlns:a="http://schemas.openxmlformats.org/drawingml/2006/main">
              <a:ext uri="{FF2B5EF4-FFF2-40B4-BE49-F238E27FC236}">
                <a16:creationId xmlns:a16="http://schemas.microsoft.com/office/drawing/2014/main" id="{519E4C7F-42E3-45BB-8DC1-F06FEAB8CEE6}"/>
              </a:ext>
            </a:extLst>
          </p:cNvPr>
          <p:cNvSpPr>
            <a:spLocks xmlns:a="http://schemas.openxmlformats.org/drawingml/2006/main" noGrp="1"/>
          </p:cNvSpPr>
          <p:nvPr/>
        </p:nvSpPr>
        <p:spPr>
          <a:xfrm xmlns:a="http://schemas.openxmlformats.org/drawingml/2006/main">
            <a:off x="2761488" y="1325880"/>
            <a:ext cx="14630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600" b="1">
                <a:solidFill>
                  <a:srgbClr val="38BDF8"/>
                </a:solidFill>
                <a:latin typeface="Calibri"/>
                <a:ea typeface="Calibri"/>
                <a:cs typeface="Calibri"/>
              </a:rPr>
              <a:t>GNN layer</a:t>
            </a:r>
            <a:endParaRPr sz="1600"/>
          </a:p>
        </p:txBody>
      </p:sp>
      <p:sp>
        <p:nvSpPr>
          <p:cNvPr id="10" name="Text 7">
            <a:extLst xmlns:a="http://schemas.openxmlformats.org/drawingml/2006/main">
              <a:ext uri="{FF2B5EF4-FFF2-40B4-BE49-F238E27FC236}">
                <a16:creationId xmlns:a16="http://schemas.microsoft.com/office/drawing/2014/main" id="{E8360AFC-7DFE-4CEC-8684-1B9323D10D68}"/>
              </a:ext>
            </a:extLst>
          </p:cNvPr>
          <p:cNvSpPr>
            <a:spLocks xmlns:a="http://schemas.openxmlformats.org/drawingml/2006/main" noGrp="1"/>
          </p:cNvSpPr>
          <p:nvPr/>
        </p:nvSpPr>
        <p:spPr>
          <a:xfrm xmlns:a="http://schemas.openxmlformats.org/drawingml/2006/main">
            <a:off x="2761488" y="1783080"/>
            <a:ext cx="146304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a:solidFill>
                  <a:srgbClr val="F1F5F9"/>
                </a:solidFill>
                <a:latin typeface="Calibri"/>
                <a:ea typeface="Calibri"/>
                <a:cs typeface="Calibri"/>
              </a:rPr>
              <a:t>Each sensor gathers information from nearby sensors</a:t>
            </a:r>
            <a:endParaRPr sz="1200"/>
          </a:p>
        </p:txBody>
      </p:sp>
      <p:sp>
        <p:nvSpPr>
          <p:cNvPr id="11" name="Shape 8">
            <a:extLst xmlns:a="http://schemas.openxmlformats.org/drawingml/2006/main">
              <a:ext uri="{FF2B5EF4-FFF2-40B4-BE49-F238E27FC236}">
                <a16:creationId xmlns:a16="http://schemas.microsoft.com/office/drawing/2014/main" id="{2F3EC7AD-0935-4C64-BE2D-EEAD160D7C91}"/>
              </a:ext>
            </a:extLst>
          </p:cNvPr>
          <p:cNvSpPr>
            <a:spLocks xmlns:a="http://schemas.openxmlformats.org/drawingml/2006/main" noGrp="1"/>
          </p:cNvSpPr>
          <p:nvPr/>
        </p:nvSpPr>
        <p:spPr>
          <a:xfrm xmlns:a="http://schemas.openxmlformats.org/drawingml/2006/main">
            <a:off x="4379976" y="2057400"/>
            <a:ext cx="347472" cy="0"/>
          </a:xfrm>
          <a:prstGeom xmlns:a="http://schemas.openxmlformats.org/drawingml/2006/main" prst="line">
            <a:avLst/>
          </a:prstGeom>
          <a:noFill xmlns:a="http://schemas.openxmlformats.org/drawingml/2006/main"/>
          <a:ln xmlns:a="http://schemas.openxmlformats.org/drawingml/2006/main" w="25400">
            <a:solidFill>
              <a:srgbClr val="94A3B8"/>
            </a:solidFill>
            <a:prstDash val="solid"/>
            <a:tailEnd type="triangle"/>
          </a:ln>
        </p:spPr>
      </p:sp>
      <p:sp>
        <p:nvSpPr>
          <p:cNvPr id="12" name="Shape 9">
            <a:extLst xmlns:a="http://schemas.openxmlformats.org/drawingml/2006/main">
              <a:ext uri="{FF2B5EF4-FFF2-40B4-BE49-F238E27FC236}">
                <a16:creationId xmlns:a16="http://schemas.microsoft.com/office/drawing/2014/main" id="{C3633D53-4455-4397-88AE-CBA226CC2EE4}"/>
              </a:ext>
            </a:extLst>
          </p:cNvPr>
          <p:cNvSpPr>
            <a:spLocks xmlns:a="http://schemas.openxmlformats.org/drawingml/2006/main" noGrp="1"/>
          </p:cNvSpPr>
          <p:nvPr/>
        </p:nvSpPr>
        <p:spPr>
          <a:xfrm xmlns:a="http://schemas.openxmlformats.org/drawingml/2006/main">
            <a:off x="4791456" y="1188720"/>
            <a:ext cx="1737360" cy="1737360"/>
          </a:xfrm>
          <a:prstGeom xmlns:a="http://schemas.openxmlformats.org/drawingml/2006/main" prst="roundRect">
            <a:avLst>
              <a:gd name="adj" fmla="val 6316"/>
            </a:avLst>
          </a:prstGeom>
          <a:solidFill xmlns:a="http://schemas.openxmlformats.org/drawingml/2006/main">
            <a:srgbClr val="1E293B"/>
          </a:solidFill>
          <a:ln xmlns:a="http://schemas.openxmlformats.org/drawingml/2006/main" w="12700">
            <a:solidFill>
              <a:srgbClr val="1E293B"/>
            </a:solidFill>
            <a:prstDash val="solid"/>
          </a:ln>
        </p:spPr>
      </p:sp>
      <p:sp>
        <p:nvSpPr>
          <p:cNvPr id="13" name="Text 10">
            <a:extLst xmlns:a="http://schemas.openxmlformats.org/drawingml/2006/main">
              <a:ext uri="{FF2B5EF4-FFF2-40B4-BE49-F238E27FC236}">
                <a16:creationId xmlns:a16="http://schemas.microsoft.com/office/drawing/2014/main" id="{51324984-ACDB-4381-AA7B-85F923971D8C}"/>
              </a:ext>
            </a:extLst>
          </p:cNvPr>
          <p:cNvSpPr>
            <a:spLocks xmlns:a="http://schemas.openxmlformats.org/drawingml/2006/main" noGrp="1"/>
          </p:cNvSpPr>
          <p:nvPr/>
        </p:nvSpPr>
        <p:spPr>
          <a:xfrm xmlns:a="http://schemas.openxmlformats.org/drawingml/2006/main">
            <a:off x="4928616" y="1325880"/>
            <a:ext cx="14630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600" b="1">
                <a:solidFill>
                  <a:srgbClr val="38BDF8"/>
                </a:solidFill>
                <a:latin typeface="Calibri"/>
                <a:ea typeface="Calibri"/>
                <a:cs typeface="Calibri"/>
              </a:rPr>
              <a:t>GRU</a:t>
            </a:r>
            <a:endParaRPr sz="1600"/>
          </a:p>
        </p:txBody>
      </p:sp>
      <p:sp>
        <p:nvSpPr>
          <p:cNvPr id="14" name="Text 11">
            <a:extLst xmlns:a="http://schemas.openxmlformats.org/drawingml/2006/main">
              <a:ext uri="{FF2B5EF4-FFF2-40B4-BE49-F238E27FC236}">
                <a16:creationId xmlns:a16="http://schemas.microsoft.com/office/drawing/2014/main" id="{0DAF0B8F-0B4F-4AC1-99CA-0725ACF28CE7}"/>
              </a:ext>
            </a:extLst>
          </p:cNvPr>
          <p:cNvSpPr>
            <a:spLocks xmlns:a="http://schemas.openxmlformats.org/drawingml/2006/main" noGrp="1"/>
          </p:cNvSpPr>
          <p:nvPr/>
        </p:nvSpPr>
        <p:spPr>
          <a:xfrm xmlns:a="http://schemas.openxmlformats.org/drawingml/2006/main">
            <a:off x="4928616" y="1783080"/>
            <a:ext cx="146304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a:solidFill>
                  <a:srgbClr val="F1F5F9"/>
                </a:solidFill>
                <a:latin typeface="Calibri"/>
                <a:ea typeface="Calibri"/>
                <a:cs typeface="Calibri"/>
              </a:rPr>
              <a:t>Learns how speeds change over time</a:t>
            </a:r>
            <a:endParaRPr sz="1200"/>
          </a:p>
        </p:txBody>
      </p:sp>
      <p:sp>
        <p:nvSpPr>
          <p:cNvPr id="15" name="Shape 12">
            <a:extLst xmlns:a="http://schemas.openxmlformats.org/drawingml/2006/main">
              <a:ext uri="{FF2B5EF4-FFF2-40B4-BE49-F238E27FC236}">
                <a16:creationId xmlns:a16="http://schemas.microsoft.com/office/drawing/2014/main" id="{7B589786-1875-4572-84D9-B9E35208DA36}"/>
              </a:ext>
            </a:extLst>
          </p:cNvPr>
          <p:cNvSpPr>
            <a:spLocks xmlns:a="http://schemas.openxmlformats.org/drawingml/2006/main" noGrp="1"/>
          </p:cNvSpPr>
          <p:nvPr/>
        </p:nvSpPr>
        <p:spPr>
          <a:xfrm xmlns:a="http://schemas.openxmlformats.org/drawingml/2006/main">
            <a:off x="6547104" y="2057400"/>
            <a:ext cx="347472" cy="0"/>
          </a:xfrm>
          <a:prstGeom xmlns:a="http://schemas.openxmlformats.org/drawingml/2006/main" prst="line">
            <a:avLst/>
          </a:prstGeom>
          <a:noFill xmlns:a="http://schemas.openxmlformats.org/drawingml/2006/main"/>
          <a:ln xmlns:a="http://schemas.openxmlformats.org/drawingml/2006/main" w="25400">
            <a:solidFill>
              <a:srgbClr val="94A3B8"/>
            </a:solidFill>
            <a:prstDash val="solid"/>
            <a:tailEnd type="triangle"/>
          </a:ln>
        </p:spPr>
      </p:sp>
      <p:sp>
        <p:nvSpPr>
          <p:cNvPr id="16" name="Shape 13">
            <a:extLst xmlns:a="http://schemas.openxmlformats.org/drawingml/2006/main">
              <a:ext uri="{FF2B5EF4-FFF2-40B4-BE49-F238E27FC236}">
                <a16:creationId xmlns:a16="http://schemas.microsoft.com/office/drawing/2014/main" id="{4807F3C9-AED2-449D-9921-0638BB9A3229}"/>
              </a:ext>
            </a:extLst>
          </p:cNvPr>
          <p:cNvSpPr>
            <a:spLocks xmlns:a="http://schemas.openxmlformats.org/drawingml/2006/main" noGrp="1"/>
          </p:cNvSpPr>
          <p:nvPr/>
        </p:nvSpPr>
        <p:spPr>
          <a:xfrm xmlns:a="http://schemas.openxmlformats.org/drawingml/2006/main">
            <a:off x="6958584" y="1188720"/>
            <a:ext cx="1737360" cy="1737360"/>
          </a:xfrm>
          <a:prstGeom xmlns:a="http://schemas.openxmlformats.org/drawingml/2006/main" prst="roundRect">
            <a:avLst>
              <a:gd name="adj" fmla="val 6316"/>
            </a:avLst>
          </a:prstGeom>
          <a:solidFill xmlns:a="http://schemas.openxmlformats.org/drawingml/2006/main">
            <a:srgbClr val="1E293B"/>
          </a:solidFill>
          <a:ln xmlns:a="http://schemas.openxmlformats.org/drawingml/2006/main" w="12700">
            <a:solidFill>
              <a:srgbClr val="1E293B"/>
            </a:solidFill>
            <a:prstDash val="solid"/>
          </a:ln>
        </p:spPr>
      </p:sp>
      <p:sp>
        <p:nvSpPr>
          <p:cNvPr id="17" name="Text 14">
            <a:extLst xmlns:a="http://schemas.openxmlformats.org/drawingml/2006/main">
              <a:ext uri="{FF2B5EF4-FFF2-40B4-BE49-F238E27FC236}">
                <a16:creationId xmlns:a16="http://schemas.microsoft.com/office/drawing/2014/main" id="{BCD83C78-6FFD-4EDD-A310-EB6768E1804C}"/>
              </a:ext>
            </a:extLst>
          </p:cNvPr>
          <p:cNvSpPr>
            <a:spLocks xmlns:a="http://schemas.openxmlformats.org/drawingml/2006/main" noGrp="1"/>
          </p:cNvSpPr>
          <p:nvPr/>
        </p:nvSpPr>
        <p:spPr>
          <a:xfrm xmlns:a="http://schemas.openxmlformats.org/drawingml/2006/main">
            <a:off x="7095744" y="1325880"/>
            <a:ext cx="14630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600" b="1">
                <a:solidFill>
                  <a:srgbClr val="38BDF8"/>
                </a:solidFill>
                <a:latin typeface="Calibri"/>
                <a:ea typeface="Calibri"/>
                <a:cs typeface="Calibri"/>
              </a:rPr>
              <a:t>Output</a:t>
            </a:r>
            <a:endParaRPr sz="1600"/>
          </a:p>
        </p:txBody>
      </p:sp>
      <p:sp>
        <p:nvSpPr>
          <p:cNvPr id="18" name="Text 15">
            <a:extLst xmlns:a="http://schemas.openxmlformats.org/drawingml/2006/main">
              <a:ext uri="{FF2B5EF4-FFF2-40B4-BE49-F238E27FC236}">
                <a16:creationId xmlns:a16="http://schemas.microsoft.com/office/drawing/2014/main" id="{6DAEEF92-8BE7-4659-B65A-658791CC31FB}"/>
              </a:ext>
            </a:extLst>
          </p:cNvPr>
          <p:cNvSpPr>
            <a:spLocks xmlns:a="http://schemas.openxmlformats.org/drawingml/2006/main" noGrp="1"/>
          </p:cNvSpPr>
          <p:nvPr/>
        </p:nvSpPr>
        <p:spPr>
          <a:xfrm xmlns:a="http://schemas.openxmlformats.org/drawingml/2006/main">
            <a:off x="7095744" y="1783080"/>
            <a:ext cx="146304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a:solidFill>
                  <a:srgbClr val="F1F5F9"/>
                </a:solidFill>
                <a:latin typeface="Calibri"/>
                <a:ea typeface="Calibri"/>
                <a:cs typeface="Calibri"/>
              </a:rPr>
              <a:t>Predicted traffic speed (mph)</a:t>
            </a:r>
            <a:endParaRPr sz="1200"/>
          </a:p>
        </p:txBody>
      </p:sp>
      <p:sp>
        <p:nvSpPr>
          <p:cNvPr id="19" name="Shape 16">
            <a:extLst xmlns:a="http://schemas.openxmlformats.org/drawingml/2006/main">
              <a:ext uri="{FF2B5EF4-FFF2-40B4-BE49-F238E27FC236}">
                <a16:creationId xmlns:a16="http://schemas.microsoft.com/office/drawing/2014/main" id="{8C99F993-060D-4F5F-91D3-97D4FC179E4C}"/>
              </a:ext>
            </a:extLst>
          </p:cNvPr>
          <p:cNvSpPr>
            <a:spLocks xmlns:a="http://schemas.openxmlformats.org/drawingml/2006/main" noGrp="1"/>
          </p:cNvSpPr>
          <p:nvPr/>
        </p:nvSpPr>
        <p:spPr>
          <a:xfrm xmlns:a="http://schemas.openxmlformats.org/drawingml/2006/main">
            <a:off x="457200" y="3200400"/>
            <a:ext cx="4023360" cy="731520"/>
          </a:xfrm>
          <a:prstGeom xmlns:a="http://schemas.openxmlformats.org/drawingml/2006/main" prst="roundRect">
            <a:avLst>
              <a:gd name="adj" fmla="val 15000"/>
            </a:avLst>
          </a:prstGeom>
          <a:solidFill xmlns:a="http://schemas.openxmlformats.org/drawingml/2006/main">
            <a:srgbClr val="1E293B"/>
          </a:solidFill>
          <a:ln xmlns:a="http://schemas.openxmlformats.org/drawingml/2006/main" w="12700">
            <a:solidFill>
              <a:srgbClr val="1E293B"/>
            </a:solidFill>
            <a:prstDash val="solid"/>
          </a:ln>
        </p:spPr>
      </p:sp>
      <p:sp>
        <p:nvSpPr>
          <p:cNvPr id="20" name="Shape 17">
            <a:extLst xmlns:a="http://schemas.openxmlformats.org/drawingml/2006/main">
              <a:ext uri="{FF2B5EF4-FFF2-40B4-BE49-F238E27FC236}">
                <a16:creationId xmlns:a16="http://schemas.microsoft.com/office/drawing/2014/main" id="{A55CF474-15BB-42E8-B6C0-1226A48B775C}"/>
              </a:ext>
            </a:extLst>
          </p:cNvPr>
          <p:cNvSpPr>
            <a:spLocks xmlns:a="http://schemas.openxmlformats.org/drawingml/2006/main" noGrp="1"/>
          </p:cNvSpPr>
          <p:nvPr/>
        </p:nvSpPr>
        <p:spPr>
          <a:xfrm xmlns:a="http://schemas.openxmlformats.org/drawingml/2006/main">
            <a:off x="4663440" y="3200400"/>
            <a:ext cx="4023360" cy="731520"/>
          </a:xfrm>
          <a:prstGeom xmlns:a="http://schemas.openxmlformats.org/drawingml/2006/main" prst="roundRect">
            <a:avLst>
              <a:gd name="adj" fmla="val 15000"/>
            </a:avLst>
          </a:prstGeom>
          <a:solidFill xmlns:a="http://schemas.openxmlformats.org/drawingml/2006/main">
            <a:srgbClr val="1E293B"/>
          </a:solidFill>
          <a:ln xmlns:a="http://schemas.openxmlformats.org/drawingml/2006/main" w="12700">
            <a:solidFill>
              <a:srgbClr val="1E293B"/>
            </a:solidFill>
            <a:prstDash val="solid"/>
          </a:ln>
        </p:spPr>
      </p:sp>
      <p:sp>
        <p:nvSpPr>
          <p:cNvPr id="21" name="Text 18">
            <a:extLst xmlns:a="http://schemas.openxmlformats.org/drawingml/2006/main">
              <a:ext uri="{FF2B5EF4-FFF2-40B4-BE49-F238E27FC236}">
                <a16:creationId xmlns:a16="http://schemas.microsoft.com/office/drawing/2014/main" id="{824AAA87-2FF5-4D61-A4B0-142F7A318D93}"/>
              </a:ext>
            </a:extLst>
          </p:cNvPr>
          <p:cNvSpPr>
            <a:spLocks xmlns:a="http://schemas.openxmlformats.org/drawingml/2006/main" noGrp="1"/>
          </p:cNvSpPr>
          <p:nvPr/>
        </p:nvSpPr>
        <p:spPr>
          <a:xfrm xmlns:a="http://schemas.openxmlformats.org/drawingml/2006/main">
            <a:off x="640080" y="3200400"/>
            <a:ext cx="36576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a:solidFill>
                  <a:srgbClr val="F1F5F9"/>
                </a:solidFill>
                <a:latin typeface="Calibri"/>
                <a:ea typeface="Calibri"/>
                <a:cs typeface="Calibri"/>
              </a:rPr>
              <a:t>GNN = "Who are my neighbouring sensors?"</a:t>
            </a:r>
            <a:endParaRPr sz="1400"/>
          </a:p>
        </p:txBody>
      </p:sp>
      <p:sp>
        <p:nvSpPr>
          <p:cNvPr id="22" name="Text 19">
            <a:extLst xmlns:a="http://schemas.openxmlformats.org/drawingml/2006/main">
              <a:ext uri="{FF2B5EF4-FFF2-40B4-BE49-F238E27FC236}">
                <a16:creationId xmlns:a16="http://schemas.microsoft.com/office/drawing/2014/main" id="{72E5E8C0-ECE7-42FB-89F2-61132D0D78A9}"/>
              </a:ext>
            </a:extLst>
          </p:cNvPr>
          <p:cNvSpPr>
            <a:spLocks xmlns:a="http://schemas.openxmlformats.org/drawingml/2006/main" noGrp="1"/>
          </p:cNvSpPr>
          <p:nvPr/>
        </p:nvSpPr>
        <p:spPr>
          <a:xfrm xmlns:a="http://schemas.openxmlformats.org/drawingml/2006/main">
            <a:off x="4846320" y="3200400"/>
            <a:ext cx="36576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a:solidFill>
                  <a:srgbClr val="F1F5F9"/>
                </a:solidFill>
                <a:latin typeface="Calibri"/>
                <a:ea typeface="Calibri"/>
                <a:cs typeface="Calibri"/>
              </a:rPr>
              <a:t>GRU = "What happened in the last few steps?"</a:t>
            </a:r>
            <a:endParaRPr sz="1400"/>
          </a:p>
        </p:txBody>
      </p:sp>
      <p:sp>
        <p:nvSpPr>
          <p:cNvPr id="23" name="Text 20">
            <a:extLst xmlns:a="http://schemas.openxmlformats.org/drawingml/2006/main">
              <a:ext uri="{FF2B5EF4-FFF2-40B4-BE49-F238E27FC236}">
                <a16:creationId xmlns:a16="http://schemas.microsoft.com/office/drawing/2014/main" id="{AA25AE26-72BA-45C3-9578-410BABC317D8}"/>
              </a:ext>
            </a:extLst>
          </p:cNvPr>
          <p:cNvSpPr>
            <a:spLocks xmlns:a="http://schemas.openxmlformats.org/drawingml/2006/main" noGrp="1"/>
          </p:cNvSpPr>
          <p:nvPr/>
        </p:nvSpPr>
        <p:spPr>
          <a:xfrm xmlns:a="http://schemas.openxmlformats.org/drawingml/2006/main">
            <a:off x="457200" y="4206240"/>
            <a:ext cx="82296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a:solidFill>
                  <a:srgbClr val="FBBF24"/>
                </a:solidFill>
                <a:latin typeface="Calibri"/>
                <a:ea typeface="Calibri"/>
                <a:cs typeface="Calibri"/>
              </a:rPr>
              <a:t>Layer count, hidden size, input window and forecast horizon were not recorded in the saved summary.</a:t>
            </a:r>
            <a:endParaRPr sz="1300"/>
          </a:p>
        </p:txBody>
      </p:sp>
    </p:spTree>
    <p:extLst>
      <p:ext uri="{BB962C8B-B14F-4D97-AF65-F5344CB8AC3E}">
        <p14:creationId xmlns:p14="http://schemas.microsoft.com/office/powerpoint/2010/main" val="1301687895"/>
      </p:ext>
    </p:extLst>
  </p:cSld>
</p:sld>
</file>

<file path=ppt/slides/slide6.xml><?xml version="1.0" encoding="utf-8"?>
<p:sld xmlns:p="http://schemas.openxmlformats.org/presentationml/2006/main">
  <p:cSld>
    <p:bg>
      <p:bgPr>
        <a:solidFill xmlns:a="http://schemas.openxmlformats.org/drawingml/2006/main">
          <a:srgbClr val="0F172A"/>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D46AE58F-D780-4EBD-82E3-86367B483703}"/>
              </a:ext>
            </a:extLst>
          </p:cNvPr>
          <p:cNvSpPr>
            <a:spLocks xmlns:a="http://schemas.openxmlformats.org/drawingml/2006/main" noGrp="1"/>
          </p:cNvSpPr>
          <p:nvPr/>
        </p:nvSpPr>
        <p:spPr>
          <a:xfrm xmlns:a="http://schemas.openxmlformats.org/drawingml/2006/main">
            <a:off x="457200" y="274320"/>
            <a:ext cx="822960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b="1">
                <a:solidFill>
                  <a:srgbClr val="F1F5F9"/>
                </a:solidFill>
                <a:latin typeface="Calibri"/>
                <a:ea typeface="Calibri"/>
                <a:cs typeface="Calibri"/>
              </a:rPr>
              <a:t>Data and training setup</a:t>
            </a:r>
            <a:endParaRPr sz="2800"/>
          </a:p>
        </p:txBody>
      </p:sp>
      <p:sp>
        <p:nvSpPr>
          <p:cNvPr id="4" name="Shape 1">
            <a:extLst xmlns:a="http://schemas.openxmlformats.org/drawingml/2006/main">
              <a:ext uri="{FF2B5EF4-FFF2-40B4-BE49-F238E27FC236}">
                <a16:creationId xmlns:a16="http://schemas.microsoft.com/office/drawing/2014/main" id="{8F7A9EC4-D4F8-4C28-B2F7-D3E2A4F498BD}"/>
              </a:ext>
            </a:extLst>
          </p:cNvPr>
          <p:cNvSpPr>
            <a:spLocks xmlns:a="http://schemas.openxmlformats.org/drawingml/2006/main" noGrp="1"/>
          </p:cNvSpPr>
          <p:nvPr/>
        </p:nvSpPr>
        <p:spPr>
          <a:xfrm xmlns:a="http://schemas.openxmlformats.org/drawingml/2006/main">
            <a:off x="457200" y="1143000"/>
            <a:ext cx="1737360" cy="640080"/>
          </a:xfrm>
          <a:prstGeom xmlns:a="http://schemas.openxmlformats.org/drawingml/2006/main" prst="roundRect">
            <a:avLst>
              <a:gd name="adj" fmla="val 17143"/>
            </a:avLst>
          </a:prstGeom>
          <a:solidFill xmlns:a="http://schemas.openxmlformats.org/drawingml/2006/main">
            <a:srgbClr val="1E293B"/>
          </a:solidFill>
          <a:ln xmlns:a="http://schemas.openxmlformats.org/drawingml/2006/main" w="12700">
            <a:solidFill>
              <a:srgbClr val="1E293B"/>
            </a:solidFill>
            <a:prstDash val="solid"/>
          </a:ln>
        </p:spPr>
      </p:sp>
      <p:sp>
        <p:nvSpPr>
          <p:cNvPr id="5" name="Text 2">
            <a:extLst xmlns:a="http://schemas.openxmlformats.org/drawingml/2006/main">
              <a:ext uri="{FF2B5EF4-FFF2-40B4-BE49-F238E27FC236}">
                <a16:creationId xmlns:a16="http://schemas.microsoft.com/office/drawing/2014/main" id="{92A74C34-5634-4C33-B1E4-EFF2C7ED6496}"/>
              </a:ext>
            </a:extLst>
          </p:cNvPr>
          <p:cNvSpPr>
            <a:spLocks xmlns:a="http://schemas.openxmlformats.org/drawingml/2006/main" noGrp="1"/>
          </p:cNvSpPr>
          <p:nvPr/>
        </p:nvSpPr>
        <p:spPr>
          <a:xfrm xmlns:a="http://schemas.openxmlformats.org/drawingml/2006/main">
            <a:off x="457200" y="1143000"/>
            <a:ext cx="17373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1F5F9"/>
                </a:solidFill>
                <a:latin typeface="Calibri"/>
                <a:ea typeface="Calibri"/>
                <a:cs typeface="Calibri"/>
              </a:rPr>
              <a:t>Sensor data</a:t>
            </a:r>
            <a:endParaRPr sz="1400"/>
          </a:p>
        </p:txBody>
      </p:sp>
      <p:sp>
        <p:nvSpPr>
          <p:cNvPr id="6" name="Shape 3">
            <a:extLst xmlns:a="http://schemas.openxmlformats.org/drawingml/2006/main">
              <a:ext uri="{FF2B5EF4-FFF2-40B4-BE49-F238E27FC236}">
                <a16:creationId xmlns:a16="http://schemas.microsoft.com/office/drawing/2014/main" id="{7CB59F94-A3A8-4214-BB9C-BB1C7788DCCC}"/>
              </a:ext>
            </a:extLst>
          </p:cNvPr>
          <p:cNvSpPr>
            <a:spLocks xmlns:a="http://schemas.openxmlformats.org/drawingml/2006/main" noGrp="1"/>
          </p:cNvSpPr>
          <p:nvPr/>
        </p:nvSpPr>
        <p:spPr>
          <a:xfrm xmlns:a="http://schemas.openxmlformats.org/drawingml/2006/main">
            <a:off x="2212848" y="1463040"/>
            <a:ext cx="347472" cy="0"/>
          </a:xfrm>
          <a:prstGeom xmlns:a="http://schemas.openxmlformats.org/drawingml/2006/main" prst="line">
            <a:avLst/>
          </a:prstGeom>
          <a:noFill xmlns:a="http://schemas.openxmlformats.org/drawingml/2006/main"/>
          <a:ln xmlns:a="http://schemas.openxmlformats.org/drawingml/2006/main" w="25400">
            <a:solidFill>
              <a:srgbClr val="94A3B8"/>
            </a:solidFill>
            <a:prstDash val="solid"/>
            <a:tailEnd type="triangle"/>
          </a:ln>
        </p:spPr>
      </p:sp>
      <p:sp>
        <p:nvSpPr>
          <p:cNvPr id="7" name="Shape 4">
            <a:extLst xmlns:a="http://schemas.openxmlformats.org/drawingml/2006/main">
              <a:ext uri="{FF2B5EF4-FFF2-40B4-BE49-F238E27FC236}">
                <a16:creationId xmlns:a16="http://schemas.microsoft.com/office/drawing/2014/main" id="{6F463D68-0D98-48AA-AD6F-811D558BC2BD}"/>
              </a:ext>
            </a:extLst>
          </p:cNvPr>
          <p:cNvSpPr>
            <a:spLocks xmlns:a="http://schemas.openxmlformats.org/drawingml/2006/main" noGrp="1"/>
          </p:cNvSpPr>
          <p:nvPr/>
        </p:nvSpPr>
        <p:spPr>
          <a:xfrm xmlns:a="http://schemas.openxmlformats.org/drawingml/2006/main">
            <a:off x="2624328" y="1143000"/>
            <a:ext cx="1737360" cy="640080"/>
          </a:xfrm>
          <a:prstGeom xmlns:a="http://schemas.openxmlformats.org/drawingml/2006/main" prst="roundRect">
            <a:avLst>
              <a:gd name="adj" fmla="val 17143"/>
            </a:avLst>
          </a:prstGeom>
          <a:solidFill xmlns:a="http://schemas.openxmlformats.org/drawingml/2006/main">
            <a:srgbClr val="1E293B"/>
          </a:solidFill>
          <a:ln xmlns:a="http://schemas.openxmlformats.org/drawingml/2006/main" w="12700">
            <a:solidFill>
              <a:srgbClr val="1E293B"/>
            </a:solidFill>
            <a:prstDash val="solid"/>
          </a:ln>
        </p:spPr>
      </p:sp>
      <p:sp>
        <p:nvSpPr>
          <p:cNvPr id="8" name="Text 5">
            <a:extLst xmlns:a="http://schemas.openxmlformats.org/drawingml/2006/main">
              <a:ext uri="{FF2B5EF4-FFF2-40B4-BE49-F238E27FC236}">
                <a16:creationId xmlns:a16="http://schemas.microsoft.com/office/drawing/2014/main" id="{E590A8B8-D453-4FFB-9D9B-EE4CFDA4DFC9}"/>
              </a:ext>
            </a:extLst>
          </p:cNvPr>
          <p:cNvSpPr>
            <a:spLocks xmlns:a="http://schemas.openxmlformats.org/drawingml/2006/main" noGrp="1"/>
          </p:cNvSpPr>
          <p:nvPr/>
        </p:nvSpPr>
        <p:spPr>
          <a:xfrm xmlns:a="http://schemas.openxmlformats.org/drawingml/2006/main">
            <a:off x="2624328" y="1143000"/>
            <a:ext cx="17373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1F5F9"/>
                </a:solidFill>
                <a:latin typeface="Calibri"/>
                <a:ea typeface="Calibri"/>
                <a:cs typeface="Calibri"/>
              </a:rPr>
              <a:t>Model training</a:t>
            </a:r>
            <a:endParaRPr sz="1400"/>
          </a:p>
        </p:txBody>
      </p:sp>
      <p:sp>
        <p:nvSpPr>
          <p:cNvPr id="9" name="Shape 6">
            <a:extLst xmlns:a="http://schemas.openxmlformats.org/drawingml/2006/main">
              <a:ext uri="{FF2B5EF4-FFF2-40B4-BE49-F238E27FC236}">
                <a16:creationId xmlns:a16="http://schemas.microsoft.com/office/drawing/2014/main" id="{E2C1B6FF-03F2-42E5-94CA-F430C2D7CF1F}"/>
              </a:ext>
            </a:extLst>
          </p:cNvPr>
          <p:cNvSpPr>
            <a:spLocks xmlns:a="http://schemas.openxmlformats.org/drawingml/2006/main" noGrp="1"/>
          </p:cNvSpPr>
          <p:nvPr/>
        </p:nvSpPr>
        <p:spPr>
          <a:xfrm xmlns:a="http://schemas.openxmlformats.org/drawingml/2006/main">
            <a:off x="4379976" y="1463040"/>
            <a:ext cx="347472" cy="0"/>
          </a:xfrm>
          <a:prstGeom xmlns:a="http://schemas.openxmlformats.org/drawingml/2006/main" prst="line">
            <a:avLst/>
          </a:prstGeom>
          <a:noFill xmlns:a="http://schemas.openxmlformats.org/drawingml/2006/main"/>
          <a:ln xmlns:a="http://schemas.openxmlformats.org/drawingml/2006/main" w="25400">
            <a:solidFill>
              <a:srgbClr val="94A3B8"/>
            </a:solidFill>
            <a:prstDash val="solid"/>
            <a:tailEnd type="triangle"/>
          </a:ln>
        </p:spPr>
      </p:sp>
      <p:sp>
        <p:nvSpPr>
          <p:cNvPr id="10" name="Shape 7">
            <a:extLst xmlns:a="http://schemas.openxmlformats.org/drawingml/2006/main">
              <a:ext uri="{FF2B5EF4-FFF2-40B4-BE49-F238E27FC236}">
                <a16:creationId xmlns:a16="http://schemas.microsoft.com/office/drawing/2014/main" id="{2E4FA568-544C-4941-8922-EC5FA5B0C6F4}"/>
              </a:ext>
            </a:extLst>
          </p:cNvPr>
          <p:cNvSpPr>
            <a:spLocks xmlns:a="http://schemas.openxmlformats.org/drawingml/2006/main" noGrp="1"/>
          </p:cNvSpPr>
          <p:nvPr/>
        </p:nvSpPr>
        <p:spPr>
          <a:xfrm xmlns:a="http://schemas.openxmlformats.org/drawingml/2006/main">
            <a:off x="4791456" y="1143000"/>
            <a:ext cx="1737360" cy="640080"/>
          </a:xfrm>
          <a:prstGeom xmlns:a="http://schemas.openxmlformats.org/drawingml/2006/main" prst="roundRect">
            <a:avLst>
              <a:gd name="adj" fmla="val 17143"/>
            </a:avLst>
          </a:prstGeom>
          <a:solidFill xmlns:a="http://schemas.openxmlformats.org/drawingml/2006/main">
            <a:srgbClr val="1E293B"/>
          </a:solidFill>
          <a:ln xmlns:a="http://schemas.openxmlformats.org/drawingml/2006/main" w="12700">
            <a:solidFill>
              <a:srgbClr val="1E293B"/>
            </a:solidFill>
            <a:prstDash val="solid"/>
          </a:ln>
        </p:spPr>
      </p:sp>
      <p:sp>
        <p:nvSpPr>
          <p:cNvPr id="11" name="Text 8">
            <a:extLst xmlns:a="http://schemas.openxmlformats.org/drawingml/2006/main">
              <a:ext uri="{FF2B5EF4-FFF2-40B4-BE49-F238E27FC236}">
                <a16:creationId xmlns:a16="http://schemas.microsoft.com/office/drawing/2014/main" id="{01169C49-18D2-42CA-B100-12F110EB36E7}"/>
              </a:ext>
            </a:extLst>
          </p:cNvPr>
          <p:cNvSpPr>
            <a:spLocks xmlns:a="http://schemas.openxmlformats.org/drawingml/2006/main" noGrp="1"/>
          </p:cNvSpPr>
          <p:nvPr/>
        </p:nvSpPr>
        <p:spPr>
          <a:xfrm xmlns:a="http://schemas.openxmlformats.org/drawingml/2006/main">
            <a:off x="4791456" y="1143000"/>
            <a:ext cx="17373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1F5F9"/>
                </a:solidFill>
                <a:latin typeface="Calibri"/>
                <a:ea typeface="Calibri"/>
                <a:cs typeface="Calibri"/>
              </a:rPr>
              <a:t>Validation MAE</a:t>
            </a:r>
            <a:endParaRPr sz="1400"/>
          </a:p>
        </p:txBody>
      </p:sp>
      <p:sp>
        <p:nvSpPr>
          <p:cNvPr id="12" name="Shape 9">
            <a:extLst xmlns:a="http://schemas.openxmlformats.org/drawingml/2006/main">
              <a:ext uri="{FF2B5EF4-FFF2-40B4-BE49-F238E27FC236}">
                <a16:creationId xmlns:a16="http://schemas.microsoft.com/office/drawing/2014/main" id="{7B039666-B2BB-4795-BF78-94698728389B}"/>
              </a:ext>
            </a:extLst>
          </p:cNvPr>
          <p:cNvSpPr>
            <a:spLocks xmlns:a="http://schemas.openxmlformats.org/drawingml/2006/main" noGrp="1"/>
          </p:cNvSpPr>
          <p:nvPr/>
        </p:nvSpPr>
        <p:spPr>
          <a:xfrm xmlns:a="http://schemas.openxmlformats.org/drawingml/2006/main">
            <a:off x="6547104" y="1463040"/>
            <a:ext cx="347472" cy="0"/>
          </a:xfrm>
          <a:prstGeom xmlns:a="http://schemas.openxmlformats.org/drawingml/2006/main" prst="line">
            <a:avLst/>
          </a:prstGeom>
          <a:noFill xmlns:a="http://schemas.openxmlformats.org/drawingml/2006/main"/>
          <a:ln xmlns:a="http://schemas.openxmlformats.org/drawingml/2006/main" w="25400">
            <a:solidFill>
              <a:srgbClr val="94A3B8"/>
            </a:solidFill>
            <a:prstDash val="solid"/>
            <a:tailEnd type="triangle"/>
          </a:ln>
        </p:spPr>
      </p:sp>
      <p:sp>
        <p:nvSpPr>
          <p:cNvPr id="13" name="Shape 10">
            <a:extLst xmlns:a="http://schemas.openxmlformats.org/drawingml/2006/main">
              <a:ext uri="{FF2B5EF4-FFF2-40B4-BE49-F238E27FC236}">
                <a16:creationId xmlns:a16="http://schemas.microsoft.com/office/drawing/2014/main" id="{F2CCD4C0-718A-4C3D-9B6E-AF9D1FF8BB8C}"/>
              </a:ext>
            </a:extLst>
          </p:cNvPr>
          <p:cNvSpPr>
            <a:spLocks xmlns:a="http://schemas.openxmlformats.org/drawingml/2006/main" noGrp="1"/>
          </p:cNvSpPr>
          <p:nvPr/>
        </p:nvSpPr>
        <p:spPr>
          <a:xfrm xmlns:a="http://schemas.openxmlformats.org/drawingml/2006/main">
            <a:off x="6958584" y="1143000"/>
            <a:ext cx="1737360" cy="640080"/>
          </a:xfrm>
          <a:prstGeom xmlns:a="http://schemas.openxmlformats.org/drawingml/2006/main" prst="roundRect">
            <a:avLst>
              <a:gd name="adj" fmla="val 17143"/>
            </a:avLst>
          </a:prstGeom>
          <a:solidFill xmlns:a="http://schemas.openxmlformats.org/drawingml/2006/main">
            <a:srgbClr val="1E293B"/>
          </a:solidFill>
          <a:ln xmlns:a="http://schemas.openxmlformats.org/drawingml/2006/main" w="12700">
            <a:solidFill>
              <a:srgbClr val="1E293B"/>
            </a:solidFill>
            <a:prstDash val="solid"/>
          </a:ln>
        </p:spPr>
      </p:sp>
      <p:sp>
        <p:nvSpPr>
          <p:cNvPr id="14" name="Text 11">
            <a:extLst xmlns:a="http://schemas.openxmlformats.org/drawingml/2006/main">
              <a:ext uri="{FF2B5EF4-FFF2-40B4-BE49-F238E27FC236}">
                <a16:creationId xmlns:a16="http://schemas.microsoft.com/office/drawing/2014/main" id="{C878100A-58EE-4E69-A14B-0D5B4E68905C}"/>
              </a:ext>
            </a:extLst>
          </p:cNvPr>
          <p:cNvSpPr>
            <a:spLocks xmlns:a="http://schemas.openxmlformats.org/drawingml/2006/main" noGrp="1"/>
          </p:cNvSpPr>
          <p:nvPr/>
        </p:nvSpPr>
        <p:spPr>
          <a:xfrm xmlns:a="http://schemas.openxmlformats.org/drawingml/2006/main">
            <a:off x="6958584" y="1143000"/>
            <a:ext cx="17373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1F5F9"/>
                </a:solidFill>
                <a:latin typeface="Calibri"/>
                <a:ea typeface="Calibri"/>
                <a:cs typeface="Calibri"/>
              </a:rPr>
              <a:t>Checkpoint saved</a:t>
            </a:r>
            <a:endParaRPr sz="1400"/>
          </a:p>
        </p:txBody>
      </p:sp>
      <p:sp>
        <p:nvSpPr>
          <p:cNvPr id="15" name="Shape 12">
            <a:extLst xmlns:a="http://schemas.openxmlformats.org/drawingml/2006/main">
              <a:ext uri="{FF2B5EF4-FFF2-40B4-BE49-F238E27FC236}">
                <a16:creationId xmlns:a16="http://schemas.microsoft.com/office/drawing/2014/main" id="{B68F085C-57D2-40A5-983F-EA0856D105F1}"/>
              </a:ext>
            </a:extLst>
          </p:cNvPr>
          <p:cNvSpPr>
            <a:spLocks xmlns:a="http://schemas.openxmlformats.org/drawingml/2006/main" noGrp="1"/>
          </p:cNvSpPr>
          <p:nvPr/>
        </p:nvSpPr>
        <p:spPr>
          <a:xfrm xmlns:a="http://schemas.openxmlformats.org/drawingml/2006/main">
            <a:off x="457200" y="2103120"/>
            <a:ext cx="4023360" cy="2468880"/>
          </a:xfrm>
          <a:prstGeom xmlns:a="http://schemas.openxmlformats.org/drawingml/2006/main" prst="roundRect">
            <a:avLst>
              <a:gd name="adj" fmla="val 4444"/>
            </a:avLst>
          </a:prstGeom>
          <a:solidFill xmlns:a="http://schemas.openxmlformats.org/drawingml/2006/main">
            <a:srgbClr val="1E293B"/>
          </a:solidFill>
          <a:ln xmlns:a="http://schemas.openxmlformats.org/drawingml/2006/main" w="12700">
            <a:solidFill>
              <a:srgbClr val="1E293B"/>
            </a:solidFill>
            <a:prstDash val="solid"/>
          </a:ln>
        </p:spPr>
      </p:sp>
      <p:sp>
        <p:nvSpPr>
          <p:cNvPr id="16" name="Shape 13">
            <a:extLst xmlns:a="http://schemas.openxmlformats.org/drawingml/2006/main">
              <a:ext uri="{FF2B5EF4-FFF2-40B4-BE49-F238E27FC236}">
                <a16:creationId xmlns:a16="http://schemas.microsoft.com/office/drawing/2014/main" id="{7B969447-A563-42A8-BF4E-D80B64D027E2}"/>
              </a:ext>
            </a:extLst>
          </p:cNvPr>
          <p:cNvSpPr>
            <a:spLocks xmlns:a="http://schemas.openxmlformats.org/drawingml/2006/main" noGrp="1"/>
          </p:cNvSpPr>
          <p:nvPr/>
        </p:nvSpPr>
        <p:spPr>
          <a:xfrm xmlns:a="http://schemas.openxmlformats.org/drawingml/2006/main">
            <a:off x="4663440" y="2103120"/>
            <a:ext cx="4023360" cy="2468880"/>
          </a:xfrm>
          <a:prstGeom xmlns:a="http://schemas.openxmlformats.org/drawingml/2006/main" prst="roundRect">
            <a:avLst>
              <a:gd name="adj" fmla="val 4444"/>
            </a:avLst>
          </a:prstGeom>
          <a:solidFill xmlns:a="http://schemas.openxmlformats.org/drawingml/2006/main">
            <a:srgbClr val="1E293B"/>
          </a:solidFill>
          <a:ln xmlns:a="http://schemas.openxmlformats.org/drawingml/2006/main" w="12700">
            <a:solidFill>
              <a:srgbClr val="1E293B"/>
            </a:solidFill>
            <a:prstDash val="solid"/>
          </a:ln>
        </p:spPr>
      </p:sp>
      <p:sp>
        <p:nvSpPr>
          <p:cNvPr id="17" name="Text 14">
            <a:extLst xmlns:a="http://schemas.openxmlformats.org/drawingml/2006/main">
              <a:ext uri="{FF2B5EF4-FFF2-40B4-BE49-F238E27FC236}">
                <a16:creationId xmlns:a16="http://schemas.microsoft.com/office/drawing/2014/main" id="{9B2B8394-EDED-41F1-9462-0149B90E4465}"/>
              </a:ext>
            </a:extLst>
          </p:cNvPr>
          <p:cNvSpPr>
            <a:spLocks xmlns:a="http://schemas.openxmlformats.org/drawingml/2006/main" noGrp="1"/>
          </p:cNvSpPr>
          <p:nvPr/>
        </p:nvSpPr>
        <p:spPr>
          <a:xfrm xmlns:a="http://schemas.openxmlformats.org/drawingml/2006/main">
            <a:off x="685800" y="2240280"/>
            <a:ext cx="36576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600" b="1">
                <a:solidFill>
                  <a:srgbClr val="34D399"/>
                </a:solidFill>
                <a:latin typeface="Calibri"/>
                <a:ea typeface="Calibri"/>
                <a:cs typeface="Calibri"/>
              </a:rPr>
              <a:t>Verified</a:t>
            </a:r>
            <a:endParaRPr sz="1600"/>
          </a:p>
        </p:txBody>
      </p:sp>
      <p:sp>
        <p:nvSpPr>
          <p:cNvPr id="18" name="Text 15">
            <a:extLst xmlns:a="http://schemas.openxmlformats.org/drawingml/2006/main">
              <a:ext uri="{FF2B5EF4-FFF2-40B4-BE49-F238E27FC236}">
                <a16:creationId xmlns:a16="http://schemas.microsoft.com/office/drawing/2014/main" id="{E7675D18-1AC7-45CF-8EA5-8EADC89B2F7A}"/>
              </a:ext>
            </a:extLst>
          </p:cNvPr>
          <p:cNvSpPr>
            <a:spLocks xmlns:a="http://schemas.openxmlformats.org/drawingml/2006/main" noGrp="1"/>
          </p:cNvSpPr>
          <p:nvPr/>
        </p:nvSpPr>
        <p:spPr>
          <a:xfrm xmlns:a="http://schemas.openxmlformats.org/drawingml/2006/main">
            <a:off x="685800" y="2651760"/>
            <a:ext cx="3566160" cy="1828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spcAft>
                <a:spcPts val="600"/>
              </a:spcAft>
              <a:buSzPct val="100000"/>
              <a:buChar char="•"/>
            </a:pPr>
            <a:r>
              <a:rPr sz="1400">
                <a:solidFill>
                  <a:srgbClr val="F1F5F9"/>
                </a:solidFill>
                <a:latin typeface="Calibri"/>
                <a:ea typeface="Calibri"/>
                <a:cs typeface="Calibri"/>
              </a:rPr>
              <a:t>207 sensors</a:t>
            </a:r>
            <a:endParaRPr sz="1400"/>
          </a:p>
          <a:p xmlns:a="http://schemas.openxmlformats.org/drawingml/2006/main">
            <a:pPr marL="342900" indent="-342900">
              <a:spcAft>
                <a:spcPts val="600"/>
              </a:spcAft>
              <a:buSzPct val="100000"/>
              <a:buChar char="•"/>
            </a:pPr>
            <a:r>
              <a:rPr sz="1400">
                <a:solidFill>
                  <a:srgbClr val="F1F5F9"/>
                </a:solidFill>
                <a:latin typeface="Calibri"/>
                <a:ea typeface="Calibri"/>
                <a:cs typeface="Calibri"/>
              </a:rPr>
              <a:t>34,272 time steps</a:t>
            </a:r>
            <a:endParaRPr sz="1400"/>
          </a:p>
          <a:p xmlns:a="http://schemas.openxmlformats.org/drawingml/2006/main">
            <a:pPr marL="342900" indent="-342900">
              <a:spcAft>
                <a:spcPts val="600"/>
              </a:spcAft>
              <a:buSzPct val="100000"/>
              <a:buChar char="•"/>
            </a:pPr>
            <a:r>
              <a:rPr sz="1400">
                <a:solidFill>
                  <a:srgbClr val="F1F5F9"/>
                </a:solidFill>
                <a:latin typeface="Calibri"/>
                <a:ea typeface="Calibri"/>
                <a:cs typeface="Calibri"/>
              </a:rPr>
              <a:t>3 epochs</a:t>
            </a:r>
            <a:endParaRPr sz="1400"/>
          </a:p>
          <a:p xmlns:a="http://schemas.openxmlformats.org/drawingml/2006/main">
            <a:pPr marL="342900" indent="-342900">
              <a:spcAft>
                <a:spcPts val="600"/>
              </a:spcAft>
              <a:buSzPct val="100000"/>
              <a:buChar char="•"/>
            </a:pPr>
            <a:r>
              <a:rPr sz="1400">
                <a:solidFill>
                  <a:srgbClr val="F1F5F9"/>
                </a:solidFill>
                <a:latin typeface="Calibri"/>
                <a:ea typeface="Calibri"/>
                <a:cs typeface="Calibri"/>
              </a:rPr>
              <a:t>6,300 trainable parameters</a:t>
            </a:r>
            <a:endParaRPr sz="1400"/>
          </a:p>
          <a:p xmlns:a="http://schemas.openxmlformats.org/drawingml/2006/main">
            <a:pPr marL="342900" indent="-342900">
              <a:spcAft>
                <a:spcPts val="600"/>
              </a:spcAft>
              <a:buSzPct val="100000"/>
              <a:buChar char="•"/>
            </a:pPr>
            <a:r>
              <a:rPr sz="1400">
                <a:solidFill>
                  <a:srgbClr val="F1F5F9"/>
                </a:solidFill>
                <a:latin typeface="Calibri"/>
                <a:ea typeface="Calibri"/>
                <a:cs typeface="Calibri"/>
              </a:rPr>
              <a:t>408.58 seconds training time</a:t>
            </a:r>
            <a:endParaRPr sz="1400"/>
          </a:p>
        </p:txBody>
      </p:sp>
      <p:sp>
        <p:nvSpPr>
          <p:cNvPr id="19" name="Text 16">
            <a:extLst xmlns:a="http://schemas.openxmlformats.org/drawingml/2006/main">
              <a:ext uri="{FF2B5EF4-FFF2-40B4-BE49-F238E27FC236}">
                <a16:creationId xmlns:a16="http://schemas.microsoft.com/office/drawing/2014/main" id="{4E9D1841-AFD7-43B6-AB1C-2FBF0959BC6C}"/>
              </a:ext>
            </a:extLst>
          </p:cNvPr>
          <p:cNvSpPr>
            <a:spLocks xmlns:a="http://schemas.openxmlformats.org/drawingml/2006/main" noGrp="1"/>
          </p:cNvSpPr>
          <p:nvPr/>
        </p:nvSpPr>
        <p:spPr>
          <a:xfrm xmlns:a="http://schemas.openxmlformats.org/drawingml/2006/main">
            <a:off x="4892040" y="2240280"/>
            <a:ext cx="36576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600" b="1">
                <a:solidFill>
                  <a:srgbClr val="FBBF24"/>
                </a:solidFill>
                <a:latin typeface="Calibri"/>
                <a:ea typeface="Calibri"/>
                <a:cs typeface="Calibri"/>
              </a:rPr>
              <a:t>Not in saved summary</a:t>
            </a:r>
            <a:endParaRPr sz="1600"/>
          </a:p>
        </p:txBody>
      </p:sp>
      <p:sp>
        <p:nvSpPr>
          <p:cNvPr id="20" name="Text 17">
            <a:extLst xmlns:a="http://schemas.openxmlformats.org/drawingml/2006/main">
              <a:ext uri="{FF2B5EF4-FFF2-40B4-BE49-F238E27FC236}">
                <a16:creationId xmlns:a16="http://schemas.microsoft.com/office/drawing/2014/main" id="{F82B6008-C200-4A25-8A88-555002CEBF23}"/>
              </a:ext>
            </a:extLst>
          </p:cNvPr>
          <p:cNvSpPr>
            <a:spLocks xmlns:a="http://schemas.openxmlformats.org/drawingml/2006/main" noGrp="1"/>
          </p:cNvSpPr>
          <p:nvPr/>
        </p:nvSpPr>
        <p:spPr>
          <a:xfrm xmlns:a="http://schemas.openxmlformats.org/drawingml/2006/main">
            <a:off x="4892040" y="2651760"/>
            <a:ext cx="3566160" cy="1828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spcAft>
                <a:spcPts val="600"/>
              </a:spcAft>
              <a:buSzPct val="100000"/>
              <a:buChar char="•"/>
            </a:pPr>
            <a:r>
              <a:rPr sz="1300">
                <a:solidFill>
                  <a:srgbClr val="FBBF24"/>
                </a:solidFill>
                <a:latin typeface="Calibri"/>
                <a:ea typeface="Calibri"/>
                <a:cs typeface="Calibri"/>
              </a:rPr>
              <a:t>Dataset source and sampling interval</a:t>
            </a:r>
            <a:endParaRPr sz="1300"/>
          </a:p>
          <a:p xmlns:a="http://schemas.openxmlformats.org/drawingml/2006/main">
            <a:pPr marL="342900" indent="-342900">
              <a:spcAft>
                <a:spcPts val="600"/>
              </a:spcAft>
              <a:buSzPct val="100000"/>
              <a:buChar char="•"/>
            </a:pPr>
            <a:r>
              <a:rPr sz="1300">
                <a:solidFill>
                  <a:srgbClr val="FBBF24"/>
                </a:solidFill>
                <a:latin typeface="Calibri"/>
                <a:ea typeface="Calibri"/>
                <a:cs typeface="Calibri"/>
              </a:rPr>
              <a:t>Train / validation / test split</a:t>
            </a:r>
            <a:endParaRPr sz="1300"/>
          </a:p>
          <a:p xmlns:a="http://schemas.openxmlformats.org/drawingml/2006/main">
            <a:pPr marL="342900" indent="-342900">
              <a:spcAft>
                <a:spcPts val="600"/>
              </a:spcAft>
              <a:buSzPct val="100000"/>
              <a:buChar char="•"/>
            </a:pPr>
            <a:r>
              <a:rPr sz="1300">
                <a:solidFill>
                  <a:srgbClr val="FBBF24"/>
                </a:solidFill>
                <a:latin typeface="Calibri"/>
                <a:ea typeface="Calibri"/>
                <a:cs typeface="Calibri"/>
              </a:rPr>
              <a:t>Optimizer and learning rate</a:t>
            </a:r>
            <a:endParaRPr sz="1300"/>
          </a:p>
          <a:p xmlns:a="http://schemas.openxmlformats.org/drawingml/2006/main">
            <a:pPr marL="342900" indent="-342900">
              <a:spcAft>
                <a:spcPts val="600"/>
              </a:spcAft>
              <a:buSzPct val="100000"/>
              <a:buChar char="•"/>
            </a:pPr>
            <a:r>
              <a:rPr sz="1300">
                <a:solidFill>
                  <a:srgbClr val="FBBF24"/>
                </a:solidFill>
                <a:latin typeface="Calibri"/>
                <a:ea typeface="Calibri"/>
                <a:cs typeface="Calibri"/>
              </a:rPr>
              <a:t>Hardware used</a:t>
            </a:r>
            <a:endParaRPr sz="1300"/>
          </a:p>
        </p:txBody>
      </p:sp>
    </p:spTree>
    <p:extLst>
      <p:ext uri="{BB962C8B-B14F-4D97-AF65-F5344CB8AC3E}">
        <p14:creationId xmlns:p14="http://schemas.microsoft.com/office/powerpoint/2010/main" val="1974014027"/>
      </p:ext>
    </p:extLst>
  </p:cSld>
</p:sld>
</file>

<file path=ppt/slides/slide7.xml><?xml version="1.0" encoding="utf-8"?>
<p:sld xmlns:p="http://schemas.openxmlformats.org/presentationml/2006/main">
  <p:cSld>
    <p:bg>
      <p:bgPr>
        <a:solidFill xmlns:a="http://schemas.openxmlformats.org/drawingml/2006/main">
          <a:srgbClr val="0F172A"/>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29CA91A9-1545-4B1C-B8C6-0DD6D4E60950}"/>
              </a:ext>
            </a:extLst>
          </p:cNvPr>
          <p:cNvSpPr>
            <a:spLocks xmlns:a="http://schemas.openxmlformats.org/drawingml/2006/main" noGrp="1"/>
          </p:cNvSpPr>
          <p:nvPr/>
        </p:nvSpPr>
        <p:spPr>
          <a:xfrm xmlns:a="http://schemas.openxmlformats.org/drawingml/2006/main">
            <a:off x="457200" y="274320"/>
            <a:ext cx="822960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b="1">
                <a:solidFill>
                  <a:srgbClr val="F1F5F9"/>
                </a:solidFill>
                <a:latin typeface="Calibri"/>
                <a:ea typeface="Calibri"/>
                <a:cs typeface="Calibri"/>
              </a:rPr>
              <a:t>Results (validation only)</a:t>
            </a:r>
            <a:endParaRPr sz="2800"/>
          </a:p>
        </p:txBody>
      </p:sp>
      <p:sp>
        <p:nvSpPr>
          <p:cNvPr id="4" name="Shape 1">
            <a:extLst xmlns:a="http://schemas.openxmlformats.org/drawingml/2006/main">
              <a:ext uri="{FF2B5EF4-FFF2-40B4-BE49-F238E27FC236}">
                <a16:creationId xmlns:a16="http://schemas.microsoft.com/office/drawing/2014/main" id="{FD8EE161-BB2A-492C-B1DD-ED6487433EB4}"/>
              </a:ext>
            </a:extLst>
          </p:cNvPr>
          <p:cNvSpPr>
            <a:spLocks xmlns:a="http://schemas.openxmlformats.org/drawingml/2006/main" noGrp="1"/>
          </p:cNvSpPr>
          <p:nvPr/>
        </p:nvSpPr>
        <p:spPr>
          <a:xfrm xmlns:a="http://schemas.openxmlformats.org/drawingml/2006/main">
            <a:off x="457200" y="1188720"/>
            <a:ext cx="4023360" cy="3291840"/>
          </a:xfrm>
          <a:prstGeom xmlns:a="http://schemas.openxmlformats.org/drawingml/2006/main" prst="roundRect">
            <a:avLst>
              <a:gd name="adj" fmla="val 3333"/>
            </a:avLst>
          </a:prstGeom>
          <a:solidFill xmlns:a="http://schemas.openxmlformats.org/drawingml/2006/main">
            <a:srgbClr val="1E293B"/>
          </a:solidFill>
          <a:ln xmlns:a="http://schemas.openxmlformats.org/drawingml/2006/main" w="12700">
            <a:solidFill>
              <a:srgbClr val="1E293B"/>
            </a:solidFill>
            <a:prstDash val="solid"/>
          </a:ln>
        </p:spPr>
      </p:sp>
      <p:sp>
        <p:nvSpPr>
          <p:cNvPr id="5" name="Text 2">
            <a:extLst xmlns:a="http://schemas.openxmlformats.org/drawingml/2006/main">
              <a:ext uri="{FF2B5EF4-FFF2-40B4-BE49-F238E27FC236}">
                <a16:creationId xmlns:a16="http://schemas.microsoft.com/office/drawing/2014/main" id="{7A96490F-E862-440B-B641-5D24E4B3BF1C}"/>
              </a:ext>
            </a:extLst>
          </p:cNvPr>
          <p:cNvSpPr>
            <a:spLocks xmlns:a="http://schemas.openxmlformats.org/drawingml/2006/main" noGrp="1"/>
          </p:cNvSpPr>
          <p:nvPr/>
        </p:nvSpPr>
        <p:spPr>
          <a:xfrm xmlns:a="http://schemas.openxmlformats.org/drawingml/2006/main">
            <a:off x="457200" y="1463040"/>
            <a:ext cx="4023360"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7200" b="1">
                <a:solidFill>
                  <a:srgbClr val="34D399"/>
                </a:solidFill>
                <a:latin typeface="Calibri"/>
                <a:ea typeface="Calibri"/>
                <a:cs typeface="Calibri"/>
              </a:rPr>
              <a:t>4.658</a:t>
            </a:r>
            <a:endParaRPr sz="7200"/>
          </a:p>
        </p:txBody>
      </p:sp>
      <p:sp>
        <p:nvSpPr>
          <p:cNvPr id="6" name="Text 3">
            <a:extLst xmlns:a="http://schemas.openxmlformats.org/drawingml/2006/main">
              <a:ext uri="{FF2B5EF4-FFF2-40B4-BE49-F238E27FC236}">
                <a16:creationId xmlns:a16="http://schemas.microsoft.com/office/drawing/2014/main" id="{BCB755F2-A806-4971-9983-956ED8DAC74A}"/>
              </a:ext>
            </a:extLst>
          </p:cNvPr>
          <p:cNvSpPr>
            <a:spLocks xmlns:a="http://schemas.openxmlformats.org/drawingml/2006/main" noGrp="1"/>
          </p:cNvSpPr>
          <p:nvPr/>
        </p:nvSpPr>
        <p:spPr>
          <a:xfrm xmlns:a="http://schemas.openxmlformats.org/drawingml/2006/main">
            <a:off x="457200" y="2651760"/>
            <a:ext cx="40233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2000">
                <a:solidFill>
                  <a:srgbClr val="F1F5F9"/>
                </a:solidFill>
                <a:latin typeface="Calibri"/>
                <a:ea typeface="Calibri"/>
                <a:cs typeface="Calibri"/>
              </a:rPr>
              <a:t>mph</a:t>
            </a:r>
            <a:endParaRPr sz="2000"/>
          </a:p>
        </p:txBody>
      </p:sp>
      <p:sp>
        <p:nvSpPr>
          <p:cNvPr id="7" name="Text 4">
            <a:extLst xmlns:a="http://schemas.openxmlformats.org/drawingml/2006/main">
              <a:ext uri="{FF2B5EF4-FFF2-40B4-BE49-F238E27FC236}">
                <a16:creationId xmlns:a16="http://schemas.microsoft.com/office/drawing/2014/main" id="{B0B9CD89-3DA7-4D0E-821C-786B54DA3BEA}"/>
              </a:ext>
            </a:extLst>
          </p:cNvPr>
          <p:cNvSpPr>
            <a:spLocks xmlns:a="http://schemas.openxmlformats.org/drawingml/2006/main" noGrp="1"/>
          </p:cNvSpPr>
          <p:nvPr/>
        </p:nvSpPr>
        <p:spPr>
          <a:xfrm xmlns:a="http://schemas.openxmlformats.org/drawingml/2006/main">
            <a:off x="457200" y="3108960"/>
            <a:ext cx="40233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600">
                <a:solidFill>
                  <a:srgbClr val="94A3B8"/>
                </a:solidFill>
                <a:latin typeface="Calibri"/>
                <a:ea typeface="Calibri"/>
                <a:cs typeface="Calibri"/>
              </a:rPr>
              <a:t>Best validation MAE</a:t>
            </a:r>
            <a:endParaRPr sz="1600"/>
          </a:p>
        </p:txBody>
      </p:sp>
      <p:sp>
        <p:nvSpPr>
          <p:cNvPr id="8" name="Shape 5">
            <a:extLst xmlns:a="http://schemas.openxmlformats.org/drawingml/2006/main">
              <a:ext uri="{FF2B5EF4-FFF2-40B4-BE49-F238E27FC236}">
                <a16:creationId xmlns:a16="http://schemas.microsoft.com/office/drawing/2014/main" id="{47419906-2E52-4807-9A03-FFE83E7322D8}"/>
              </a:ext>
            </a:extLst>
          </p:cNvPr>
          <p:cNvSpPr>
            <a:spLocks xmlns:a="http://schemas.openxmlformats.org/drawingml/2006/main" noGrp="1"/>
          </p:cNvSpPr>
          <p:nvPr/>
        </p:nvSpPr>
        <p:spPr>
          <a:xfrm xmlns:a="http://schemas.openxmlformats.org/drawingml/2006/main">
            <a:off x="1463040" y="3749040"/>
            <a:ext cx="2011680" cy="274320"/>
          </a:xfrm>
          <a:prstGeom xmlns:a="http://schemas.openxmlformats.org/drawingml/2006/main" prst="roundRect">
            <a:avLst>
              <a:gd name="adj" fmla="val 40000"/>
            </a:avLst>
          </a:prstGeom>
          <a:solidFill xmlns:a="http://schemas.openxmlformats.org/drawingml/2006/main">
            <a:srgbClr val="FBBF24"/>
          </a:solidFill>
          <a:ln xmlns:a="http://schemas.openxmlformats.org/drawingml/2006/main" w="12700">
            <a:solidFill>
              <a:srgbClr val="FBBF24"/>
            </a:solidFill>
            <a:prstDash val="solid"/>
          </a:ln>
        </p:spPr>
      </p:sp>
      <p:sp>
        <p:nvSpPr>
          <p:cNvPr id="9" name="Text 6">
            <a:extLst xmlns:a="http://schemas.openxmlformats.org/drawingml/2006/main">
              <a:ext uri="{FF2B5EF4-FFF2-40B4-BE49-F238E27FC236}">
                <a16:creationId xmlns:a16="http://schemas.microsoft.com/office/drawing/2014/main" id="{D93AE99D-774D-4558-953D-D715D1E6050C}"/>
              </a:ext>
            </a:extLst>
          </p:cNvPr>
          <p:cNvSpPr>
            <a:spLocks xmlns:a="http://schemas.openxmlformats.org/drawingml/2006/main" noGrp="1"/>
          </p:cNvSpPr>
          <p:nvPr/>
        </p:nvSpPr>
        <p:spPr>
          <a:xfrm xmlns:a="http://schemas.openxmlformats.org/drawingml/2006/main">
            <a:off x="1463040" y="3749040"/>
            <a:ext cx="2011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0F172A"/>
                </a:solidFill>
                <a:latin typeface="Calibri"/>
                <a:ea typeface="Calibri"/>
                <a:cs typeface="Calibri"/>
              </a:rPr>
              <a:t>VALIDATION · not test</a:t>
            </a:r>
            <a:endParaRPr sz="1100"/>
          </a:p>
        </p:txBody>
      </p:sp>
      <p:sp>
        <p:nvSpPr>
          <p:cNvPr id="10" name="Shape 7">
            <a:extLst xmlns:a="http://schemas.openxmlformats.org/drawingml/2006/main">
              <a:ext uri="{FF2B5EF4-FFF2-40B4-BE49-F238E27FC236}">
                <a16:creationId xmlns:a16="http://schemas.microsoft.com/office/drawing/2014/main" id="{FCDD9572-3BC3-424B-8813-444C8BBA940D}"/>
              </a:ext>
            </a:extLst>
          </p:cNvPr>
          <p:cNvSpPr>
            <a:spLocks xmlns:a="http://schemas.openxmlformats.org/drawingml/2006/main" noGrp="1"/>
          </p:cNvSpPr>
          <p:nvPr/>
        </p:nvSpPr>
        <p:spPr>
          <a:xfrm xmlns:a="http://schemas.openxmlformats.org/drawingml/2006/main">
            <a:off x="4663440" y="1188720"/>
            <a:ext cx="4023360" cy="3291840"/>
          </a:xfrm>
          <a:prstGeom xmlns:a="http://schemas.openxmlformats.org/drawingml/2006/main" prst="roundRect">
            <a:avLst>
              <a:gd name="adj" fmla="val 3333"/>
            </a:avLst>
          </a:prstGeom>
          <a:solidFill xmlns:a="http://schemas.openxmlformats.org/drawingml/2006/main">
            <a:srgbClr val="1E293B"/>
          </a:solidFill>
          <a:ln xmlns:a="http://schemas.openxmlformats.org/drawingml/2006/main" w="12700">
            <a:solidFill>
              <a:srgbClr val="1E293B"/>
            </a:solidFill>
            <a:prstDash val="solid"/>
          </a:ln>
        </p:spPr>
      </p:sp>
      <p:sp>
        <p:nvSpPr>
          <p:cNvPr id="11" name="Text 8">
            <a:extLst xmlns:a="http://schemas.openxmlformats.org/drawingml/2006/main">
              <a:ext uri="{FF2B5EF4-FFF2-40B4-BE49-F238E27FC236}">
                <a16:creationId xmlns:a16="http://schemas.microsoft.com/office/drawing/2014/main" id="{A2D2BC9C-577C-4C0F-BFAF-7C24E35E374A}"/>
              </a:ext>
            </a:extLst>
          </p:cNvPr>
          <p:cNvSpPr>
            <a:spLocks xmlns:a="http://schemas.openxmlformats.org/drawingml/2006/main" noGrp="1"/>
          </p:cNvSpPr>
          <p:nvPr/>
        </p:nvSpPr>
        <p:spPr>
          <a:xfrm xmlns:a="http://schemas.openxmlformats.org/drawingml/2006/main">
            <a:off x="4892040" y="1371600"/>
            <a:ext cx="36576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600" b="1">
                <a:solidFill>
                  <a:srgbClr val="38BDF8"/>
                </a:solidFill>
                <a:latin typeface="Calibri"/>
                <a:ea typeface="Calibri"/>
                <a:cs typeface="Calibri"/>
              </a:rPr>
              <a:t>How to read it</a:t>
            </a:r>
            <a:endParaRPr sz="1600"/>
          </a:p>
        </p:txBody>
      </p:sp>
      <p:sp>
        <p:nvSpPr>
          <p:cNvPr id="12" name="Text 9">
            <a:extLst xmlns:a="http://schemas.openxmlformats.org/drawingml/2006/main">
              <a:ext uri="{FF2B5EF4-FFF2-40B4-BE49-F238E27FC236}">
                <a16:creationId xmlns:a16="http://schemas.microsoft.com/office/drawing/2014/main" id="{2EA39D18-61A6-4A22-A0FA-FC846DDD7367}"/>
              </a:ext>
            </a:extLst>
          </p:cNvPr>
          <p:cNvSpPr>
            <a:spLocks xmlns:a="http://schemas.openxmlformats.org/drawingml/2006/main" noGrp="1"/>
          </p:cNvSpPr>
          <p:nvPr/>
        </p:nvSpPr>
        <p:spPr>
          <a:xfrm xmlns:a="http://schemas.openxmlformats.org/drawingml/2006/main">
            <a:off x="4892040" y="1783080"/>
            <a:ext cx="356616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a:solidFill>
                  <a:srgbClr val="F1F5F9"/>
                </a:solidFill>
                <a:latin typeface="Calibri"/>
                <a:ea typeface="Calibri"/>
                <a:cs typeface="Calibri"/>
              </a:rPr>
              <a:t>On validation data, predicted speeds are off by about 4.7 mph on average (MAE).</a:t>
            </a:r>
            <a:endParaRPr sz="1400"/>
          </a:p>
        </p:txBody>
      </p:sp>
      <p:sp>
        <p:nvSpPr>
          <p:cNvPr id="13" name="Text 10">
            <a:extLst xmlns:a="http://schemas.openxmlformats.org/drawingml/2006/main">
              <a:ext uri="{FF2B5EF4-FFF2-40B4-BE49-F238E27FC236}">
                <a16:creationId xmlns:a16="http://schemas.microsoft.com/office/drawing/2014/main" id="{22170877-F26C-4861-8C7D-AAE3640EB318}"/>
              </a:ext>
            </a:extLst>
          </p:cNvPr>
          <p:cNvSpPr>
            <a:spLocks xmlns:a="http://schemas.openxmlformats.org/drawingml/2006/main" noGrp="1"/>
          </p:cNvSpPr>
          <p:nvPr/>
        </p:nvSpPr>
        <p:spPr>
          <a:xfrm xmlns:a="http://schemas.openxmlformats.org/drawingml/2006/main">
            <a:off x="4892040" y="2743200"/>
            <a:ext cx="36576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600" b="1">
                <a:solidFill>
                  <a:srgbClr val="FBBF24"/>
                </a:solidFill>
                <a:latin typeface="Calibri"/>
                <a:ea typeface="Calibri"/>
                <a:cs typeface="Calibri"/>
              </a:rPr>
              <a:t>Not yet measured</a:t>
            </a:r>
            <a:endParaRPr sz="1600"/>
          </a:p>
        </p:txBody>
      </p:sp>
      <p:sp>
        <p:nvSpPr>
          <p:cNvPr id="14" name="Text 11">
            <a:extLst xmlns:a="http://schemas.openxmlformats.org/drawingml/2006/main">
              <a:ext uri="{FF2B5EF4-FFF2-40B4-BE49-F238E27FC236}">
                <a16:creationId xmlns:a16="http://schemas.microsoft.com/office/drawing/2014/main" id="{50FE34AF-43A2-4334-8BA4-5F8BD97A5C07}"/>
              </a:ext>
            </a:extLst>
          </p:cNvPr>
          <p:cNvSpPr>
            <a:spLocks xmlns:a="http://schemas.openxmlformats.org/drawingml/2006/main" noGrp="1"/>
          </p:cNvSpPr>
          <p:nvPr/>
        </p:nvSpPr>
        <p:spPr>
          <a:xfrm xmlns:a="http://schemas.openxmlformats.org/drawingml/2006/main">
            <a:off x="4892040" y="3154680"/>
            <a:ext cx="3566160"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spcAft>
                <a:spcPts val="600"/>
              </a:spcAft>
              <a:buSzPct val="100000"/>
              <a:buChar char="•"/>
            </a:pPr>
            <a:r>
              <a:rPr sz="1400">
                <a:solidFill>
                  <a:srgbClr val="F1F5F9"/>
                </a:solidFill>
                <a:latin typeface="Calibri"/>
                <a:ea typeface="Calibri"/>
                <a:cs typeface="Calibri"/>
              </a:rPr>
              <a:t>Test MAE</a:t>
            </a:r>
            <a:endParaRPr sz="1400"/>
          </a:p>
          <a:p xmlns:a="http://schemas.openxmlformats.org/drawingml/2006/main">
            <a:pPr marL="342900" indent="-342900">
              <a:spcAft>
                <a:spcPts val="600"/>
              </a:spcAft>
              <a:buSzPct val="100000"/>
              <a:buChar char="•"/>
            </a:pPr>
            <a:r>
              <a:rPr sz="1400">
                <a:solidFill>
                  <a:srgbClr val="F1F5F9"/>
                </a:solidFill>
                <a:latin typeface="Calibri"/>
                <a:ea typeface="Calibri"/>
                <a:cs typeface="Calibri"/>
              </a:rPr>
              <a:t>Comparison with baselines</a:t>
            </a:r>
            <a:endParaRPr sz="1400"/>
          </a:p>
          <a:p xmlns:a="http://schemas.openxmlformats.org/drawingml/2006/main">
            <a:pPr marL="342900" indent="-342900">
              <a:spcAft>
                <a:spcPts val="600"/>
              </a:spcAft>
              <a:buSzPct val="100000"/>
              <a:buChar char="•"/>
            </a:pPr>
            <a:r>
              <a:rPr sz="1400">
                <a:solidFill>
                  <a:srgbClr val="F1F5F9"/>
                </a:solidFill>
                <a:latin typeface="Calibri"/>
                <a:ea typeface="Calibri"/>
                <a:cs typeface="Calibri"/>
              </a:rPr>
              <a:t>Robustness under shift</a:t>
            </a:r>
            <a:endParaRPr sz="1400"/>
          </a:p>
        </p:txBody>
      </p:sp>
    </p:spTree>
    <p:extLst>
      <p:ext uri="{BB962C8B-B14F-4D97-AF65-F5344CB8AC3E}">
        <p14:creationId xmlns:p14="http://schemas.microsoft.com/office/powerpoint/2010/main" val="873408535"/>
      </p:ext>
    </p:extLst>
  </p:cSld>
</p:sld>
</file>

<file path=ppt/slides/slide8.xml><?xml version="1.0" encoding="utf-8"?>
<p:sld xmlns:p="http://schemas.openxmlformats.org/presentationml/2006/main">
  <p:cSld>
    <p:bg>
      <p:bgPr>
        <a:solidFill xmlns:a="http://schemas.openxmlformats.org/drawingml/2006/main">
          <a:srgbClr val="0F172A"/>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435D32E-3AFF-4B1D-923A-26B6BF745D8E}"/>
              </a:ext>
            </a:extLst>
          </p:cNvPr>
          <p:cNvSpPr>
            <a:spLocks xmlns:a="http://schemas.openxmlformats.org/drawingml/2006/main" noGrp="1"/>
          </p:cNvSpPr>
          <p:nvPr/>
        </p:nvSpPr>
        <p:spPr>
          <a:xfrm xmlns:a="http://schemas.openxmlformats.org/drawingml/2006/main">
            <a:off x="457200" y="274320"/>
            <a:ext cx="822960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b="1">
                <a:solidFill>
                  <a:srgbClr val="F1F5F9"/>
                </a:solidFill>
                <a:latin typeface="Calibri"/>
                <a:ea typeface="Calibri"/>
                <a:cs typeface="Calibri"/>
              </a:rPr>
              <a:t>Limitations: what is not completed</a:t>
            </a:r>
            <a:endParaRPr sz="2800"/>
          </a:p>
        </p:txBody>
      </p:sp>
      <p:sp>
        <p:nvSpPr>
          <p:cNvPr id="4" name="Shape 1">
            <a:extLst xmlns:a="http://schemas.openxmlformats.org/drawingml/2006/main">
              <a:ext uri="{FF2B5EF4-FFF2-40B4-BE49-F238E27FC236}">
                <a16:creationId xmlns:a16="http://schemas.microsoft.com/office/drawing/2014/main" id="{3CF0FF43-3E10-485F-9628-B08338355E22}"/>
              </a:ext>
            </a:extLst>
          </p:cNvPr>
          <p:cNvSpPr>
            <a:spLocks xmlns:a="http://schemas.openxmlformats.org/drawingml/2006/main" noGrp="1"/>
          </p:cNvSpPr>
          <p:nvPr/>
        </p:nvSpPr>
        <p:spPr>
          <a:xfrm xmlns:a="http://schemas.openxmlformats.org/drawingml/2006/main">
            <a:off x="457200" y="1188720"/>
            <a:ext cx="8229600" cy="3383280"/>
          </a:xfrm>
          <a:prstGeom xmlns:a="http://schemas.openxmlformats.org/drawingml/2006/main" prst="roundRect">
            <a:avLst>
              <a:gd name="adj" fmla="val 3243"/>
            </a:avLst>
          </a:prstGeom>
          <a:solidFill xmlns:a="http://schemas.openxmlformats.org/drawingml/2006/main">
            <a:srgbClr val="1E293B"/>
          </a:solidFill>
          <a:ln xmlns:a="http://schemas.openxmlformats.org/drawingml/2006/main" w="12700">
            <a:solidFill>
              <a:srgbClr val="1E293B"/>
            </a:solidFill>
            <a:prstDash val="solid"/>
          </a:ln>
        </p:spPr>
      </p:sp>
      <p:sp>
        <p:nvSpPr>
          <p:cNvPr id="5" name="Text 2">
            <a:extLst xmlns:a="http://schemas.openxmlformats.org/drawingml/2006/main">
              <a:ext uri="{FF2B5EF4-FFF2-40B4-BE49-F238E27FC236}">
                <a16:creationId xmlns:a16="http://schemas.microsoft.com/office/drawing/2014/main" id="{C34CCCB3-BE6A-46C0-94C1-FDD602DA4426}"/>
              </a:ext>
            </a:extLst>
          </p:cNvPr>
          <p:cNvSpPr>
            <a:spLocks xmlns:a="http://schemas.openxmlformats.org/drawingml/2006/main" noGrp="1"/>
          </p:cNvSpPr>
          <p:nvPr/>
        </p:nvSpPr>
        <p:spPr>
          <a:xfrm xmlns:a="http://schemas.openxmlformats.org/drawingml/2006/main">
            <a:off x="731520" y="1417320"/>
            <a:ext cx="7680960" cy="3017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spcAft>
                <a:spcPts val="600"/>
              </a:spcAft>
              <a:buSzPct val="100000"/>
              <a:buChar char="•"/>
            </a:pPr>
            <a:r>
              <a:rPr sz="1600">
                <a:solidFill>
                  <a:srgbClr val="F1F5F9"/>
                </a:solidFill>
                <a:latin typeface="Calibri"/>
                <a:ea typeface="Calibri"/>
                <a:cs typeface="Calibri"/>
              </a:rPr>
              <a:t>Test MAE has not been measured; only validation MAE exists</a:t>
            </a:r>
            <a:endParaRPr sz="1600"/>
          </a:p>
          <a:p xmlns:a="http://schemas.openxmlformats.org/drawingml/2006/main">
            <a:pPr marL="342900" indent="-342900">
              <a:spcAft>
                <a:spcPts val="600"/>
              </a:spcAft>
              <a:buSzPct val="100000"/>
              <a:buChar char="•"/>
            </a:pPr>
            <a:r>
              <a:rPr sz="1600">
                <a:solidFill>
                  <a:srgbClr val="F1F5F9"/>
                </a:solidFill>
                <a:latin typeface="Calibri"/>
                <a:ea typeface="Calibri"/>
                <a:cs typeface="Calibri"/>
              </a:rPr>
              <a:t>Results are from a 3-epoch run</a:t>
            </a:r>
            <a:endParaRPr sz="1600"/>
          </a:p>
          <a:p xmlns:a="http://schemas.openxmlformats.org/drawingml/2006/main">
            <a:pPr marL="342900" indent="-342900">
              <a:spcAft>
                <a:spcPts val="600"/>
              </a:spcAft>
              <a:buSzPct val="100000"/>
              <a:buChar char="•"/>
            </a:pPr>
            <a:r>
              <a:rPr sz="1600">
                <a:solidFill>
                  <a:srgbClr val="F1F5F9"/>
                </a:solidFill>
                <a:latin typeface="Calibri"/>
                <a:ea typeface="Calibri"/>
                <a:cs typeface="Calibri"/>
              </a:rPr>
              <a:t>No comparison with baseline models yet</a:t>
            </a:r>
            <a:endParaRPr sz="1600"/>
          </a:p>
          <a:p xmlns:a="http://schemas.openxmlformats.org/drawingml/2006/main">
            <a:pPr marL="342900" indent="-342900">
              <a:spcAft>
                <a:spcPts val="600"/>
              </a:spcAft>
              <a:buSzPct val="100000"/>
              <a:buChar char="•"/>
            </a:pPr>
            <a:r>
              <a:rPr sz="1600">
                <a:solidFill>
                  <a:srgbClr val="F1F5F9"/>
                </a:solidFill>
                <a:latin typeface="Calibri"/>
                <a:ea typeface="Calibri"/>
                <a:cs typeface="Calibri"/>
              </a:rPr>
              <a:t>NSGA-II architecture search has not been run</a:t>
            </a:r>
            <a:endParaRPr sz="1600"/>
          </a:p>
          <a:p xmlns:a="http://schemas.openxmlformats.org/drawingml/2006/main">
            <a:pPr marL="342900" indent="-342900">
              <a:spcAft>
                <a:spcPts val="600"/>
              </a:spcAft>
              <a:buSzPct val="100000"/>
              <a:buChar char="•"/>
            </a:pPr>
            <a:r>
              <a:rPr sz="1600">
                <a:solidFill>
                  <a:srgbClr val="F1F5F9"/>
                </a:solidFill>
                <a:latin typeface="Calibri"/>
                <a:ea typeface="Calibri"/>
                <a:cs typeface="Calibri"/>
              </a:rPr>
              <a:t>Incident prediction is not built; no incident results are available</a:t>
            </a:r>
            <a:endParaRPr sz="1600"/>
          </a:p>
          <a:p xmlns:a="http://schemas.openxmlformats.org/drawingml/2006/main">
            <a:pPr marL="342900" indent="-342900">
              <a:spcAft>
                <a:spcPts val="600"/>
              </a:spcAft>
              <a:buSzPct val="100000"/>
              <a:buChar char="•"/>
            </a:pPr>
            <a:r>
              <a:rPr sz="1600">
                <a:solidFill>
                  <a:srgbClr val="F1F5F9"/>
                </a:solidFill>
                <a:latin typeface="Calibri"/>
                <a:ea typeface="Calibri"/>
                <a:cs typeface="Calibri"/>
              </a:rPr>
              <a:t>Robustness under distribution shift has not been tested</a:t>
            </a:r>
            <a:endParaRPr sz="1600"/>
          </a:p>
        </p:txBody>
      </p:sp>
    </p:spTree>
    <p:extLst>
      <p:ext uri="{BB962C8B-B14F-4D97-AF65-F5344CB8AC3E}">
        <p14:creationId xmlns:p14="http://schemas.microsoft.com/office/powerpoint/2010/main" val="605019851"/>
      </p:ext>
    </p:extLst>
  </p:cSld>
</p:sld>
</file>

<file path=ppt/slides/slide9.xml><?xml version="1.0" encoding="utf-8"?>
<p:sld xmlns:p="http://schemas.openxmlformats.org/presentationml/2006/main">
  <p:cSld>
    <p:bg>
      <p:bgPr>
        <a:solidFill xmlns:a="http://schemas.openxmlformats.org/drawingml/2006/main">
          <a:srgbClr val="0F172A"/>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656A0BC-C633-41BD-AA36-B53F3B7316D5}"/>
              </a:ext>
            </a:extLst>
          </p:cNvPr>
          <p:cNvSpPr>
            <a:spLocks xmlns:a="http://schemas.openxmlformats.org/drawingml/2006/main" noGrp="1"/>
          </p:cNvSpPr>
          <p:nvPr/>
        </p:nvSpPr>
        <p:spPr>
          <a:xfrm xmlns:a="http://schemas.openxmlformats.org/drawingml/2006/main">
            <a:off x="457200" y="274320"/>
            <a:ext cx="822960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b="1">
                <a:solidFill>
                  <a:srgbClr val="F1F5F9"/>
                </a:solidFill>
                <a:latin typeface="Calibri"/>
                <a:ea typeface="Calibri"/>
                <a:cs typeface="Calibri"/>
              </a:rPr>
              <a:t>Next steps (planned work)</a:t>
            </a:r>
            <a:endParaRPr sz="2800"/>
          </a:p>
        </p:txBody>
      </p:sp>
      <p:sp>
        <p:nvSpPr>
          <p:cNvPr id="4" name="Shape 1">
            <a:extLst xmlns:a="http://schemas.openxmlformats.org/drawingml/2006/main">
              <a:ext uri="{FF2B5EF4-FFF2-40B4-BE49-F238E27FC236}">
                <a16:creationId xmlns:a16="http://schemas.microsoft.com/office/drawing/2014/main" id="{0F8633F5-C2B0-48A5-A762-5F580648C997}"/>
              </a:ext>
            </a:extLst>
          </p:cNvPr>
          <p:cNvSpPr>
            <a:spLocks xmlns:a="http://schemas.openxmlformats.org/drawingml/2006/main" noGrp="1"/>
          </p:cNvSpPr>
          <p:nvPr/>
        </p:nvSpPr>
        <p:spPr>
          <a:xfrm xmlns:a="http://schemas.openxmlformats.org/drawingml/2006/main">
            <a:off x="457200" y="1097280"/>
            <a:ext cx="8229600" cy="566928"/>
          </a:xfrm>
          <a:prstGeom xmlns:a="http://schemas.openxmlformats.org/drawingml/2006/main" prst="roundRect">
            <a:avLst>
              <a:gd name="adj" fmla="val 19355"/>
            </a:avLst>
          </a:prstGeom>
          <a:solidFill xmlns:a="http://schemas.openxmlformats.org/drawingml/2006/main">
            <a:srgbClr val="1E293B"/>
          </a:solidFill>
          <a:ln xmlns:a="http://schemas.openxmlformats.org/drawingml/2006/main" w="12700">
            <a:solidFill>
              <a:srgbClr val="1E293B"/>
            </a:solidFill>
            <a:prstDash val="solid"/>
          </a:ln>
        </p:spPr>
      </p:sp>
      <p:sp>
        <p:nvSpPr>
          <p:cNvPr id="5" name="Text 2">
            <a:extLst xmlns:a="http://schemas.openxmlformats.org/drawingml/2006/main">
              <a:ext uri="{FF2B5EF4-FFF2-40B4-BE49-F238E27FC236}">
                <a16:creationId xmlns:a16="http://schemas.microsoft.com/office/drawing/2014/main" id="{28FDD585-44D5-4E7B-81E6-9B9449F2A040}"/>
              </a:ext>
            </a:extLst>
          </p:cNvPr>
          <p:cNvSpPr>
            <a:spLocks xmlns:a="http://schemas.openxmlformats.org/drawingml/2006/main" noGrp="1"/>
          </p:cNvSpPr>
          <p:nvPr/>
        </p:nvSpPr>
        <p:spPr>
          <a:xfrm xmlns:a="http://schemas.openxmlformats.org/drawingml/2006/main">
            <a:off x="640080" y="1097280"/>
            <a:ext cx="36576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b="1">
                <a:solidFill>
                  <a:srgbClr val="38BDF8"/>
                </a:solidFill>
                <a:latin typeface="Calibri"/>
                <a:ea typeface="Calibri"/>
                <a:cs typeface="Calibri"/>
              </a:rPr>
              <a:t>1</a:t>
            </a:r>
            <a:endParaRPr sz="2000"/>
          </a:p>
        </p:txBody>
      </p:sp>
      <p:sp>
        <p:nvSpPr>
          <p:cNvPr id="6" name="Text 3">
            <a:extLst xmlns:a="http://schemas.openxmlformats.org/drawingml/2006/main">
              <a:ext uri="{FF2B5EF4-FFF2-40B4-BE49-F238E27FC236}">
                <a16:creationId xmlns:a16="http://schemas.microsoft.com/office/drawing/2014/main" id="{4EB494FE-A965-457B-987E-DA5559DB582B}"/>
              </a:ext>
            </a:extLst>
          </p:cNvPr>
          <p:cNvSpPr>
            <a:spLocks xmlns:a="http://schemas.openxmlformats.org/drawingml/2006/main" noGrp="1"/>
          </p:cNvSpPr>
          <p:nvPr/>
        </p:nvSpPr>
        <p:spPr>
          <a:xfrm xmlns:a="http://schemas.openxmlformats.org/drawingml/2006/main">
            <a:off x="1097280" y="1097280"/>
            <a:ext cx="630936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a:solidFill>
                  <a:srgbClr val="F1F5F9"/>
                </a:solidFill>
                <a:latin typeface="Calibri"/>
                <a:ea typeface="Calibri"/>
                <a:cs typeface="Calibri"/>
              </a:rPr>
              <a:t>Measure test MAE on held-out data</a:t>
            </a:r>
            <a:endParaRPr sz="1400"/>
          </a:p>
        </p:txBody>
      </p:sp>
      <p:sp>
        <p:nvSpPr>
          <p:cNvPr id="7" name="Shape 4">
            <a:extLst xmlns:a="http://schemas.openxmlformats.org/drawingml/2006/main">
              <a:ext uri="{FF2B5EF4-FFF2-40B4-BE49-F238E27FC236}">
                <a16:creationId xmlns:a16="http://schemas.microsoft.com/office/drawing/2014/main" id="{279BF21A-55AB-4207-A9B1-7B3FCBFFB93E}"/>
              </a:ext>
            </a:extLst>
          </p:cNvPr>
          <p:cNvSpPr>
            <a:spLocks xmlns:a="http://schemas.openxmlformats.org/drawingml/2006/main" noGrp="1"/>
          </p:cNvSpPr>
          <p:nvPr/>
        </p:nvSpPr>
        <p:spPr>
          <a:xfrm xmlns:a="http://schemas.openxmlformats.org/drawingml/2006/main">
            <a:off x="7498080" y="1243584"/>
            <a:ext cx="1005840" cy="274320"/>
          </a:xfrm>
          <a:prstGeom xmlns:a="http://schemas.openxmlformats.org/drawingml/2006/main" prst="roundRect">
            <a:avLst>
              <a:gd name="adj" fmla="val 40000"/>
            </a:avLst>
          </a:prstGeom>
          <a:solidFill xmlns:a="http://schemas.openxmlformats.org/drawingml/2006/main">
            <a:srgbClr val="FBBF24"/>
          </a:solidFill>
          <a:ln xmlns:a="http://schemas.openxmlformats.org/drawingml/2006/main" w="12700">
            <a:solidFill>
              <a:srgbClr val="FBBF24"/>
            </a:solidFill>
            <a:prstDash val="solid"/>
          </a:ln>
        </p:spPr>
      </p:sp>
      <p:sp>
        <p:nvSpPr>
          <p:cNvPr id="8" name="Text 5">
            <a:extLst xmlns:a="http://schemas.openxmlformats.org/drawingml/2006/main">
              <a:ext uri="{FF2B5EF4-FFF2-40B4-BE49-F238E27FC236}">
                <a16:creationId xmlns:a16="http://schemas.microsoft.com/office/drawing/2014/main" id="{1996FF78-246D-4A2B-BD45-757A7C79F870}"/>
              </a:ext>
            </a:extLst>
          </p:cNvPr>
          <p:cNvSpPr>
            <a:spLocks xmlns:a="http://schemas.openxmlformats.org/drawingml/2006/main" noGrp="1"/>
          </p:cNvSpPr>
          <p:nvPr/>
        </p:nvSpPr>
        <p:spPr>
          <a:xfrm xmlns:a="http://schemas.openxmlformats.org/drawingml/2006/main">
            <a:off x="7498080" y="1243584"/>
            <a:ext cx="10058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0F172A"/>
                </a:solidFill>
                <a:latin typeface="Calibri"/>
                <a:ea typeface="Calibri"/>
                <a:cs typeface="Calibri"/>
              </a:rPr>
              <a:t>Planned</a:t>
            </a:r>
            <a:endParaRPr sz="1100"/>
          </a:p>
        </p:txBody>
      </p:sp>
      <p:sp>
        <p:nvSpPr>
          <p:cNvPr id="9" name="Shape 6">
            <a:extLst xmlns:a="http://schemas.openxmlformats.org/drawingml/2006/main">
              <a:ext uri="{FF2B5EF4-FFF2-40B4-BE49-F238E27FC236}">
                <a16:creationId xmlns:a16="http://schemas.microsoft.com/office/drawing/2014/main" id="{87C91F0F-99E4-4C02-9399-12FD0A38027F}"/>
              </a:ext>
            </a:extLst>
          </p:cNvPr>
          <p:cNvSpPr>
            <a:spLocks xmlns:a="http://schemas.openxmlformats.org/drawingml/2006/main" noGrp="1"/>
          </p:cNvSpPr>
          <p:nvPr/>
        </p:nvSpPr>
        <p:spPr>
          <a:xfrm xmlns:a="http://schemas.openxmlformats.org/drawingml/2006/main">
            <a:off x="457200" y="1783080"/>
            <a:ext cx="8229600" cy="566928"/>
          </a:xfrm>
          <a:prstGeom xmlns:a="http://schemas.openxmlformats.org/drawingml/2006/main" prst="roundRect">
            <a:avLst>
              <a:gd name="adj" fmla="val 19355"/>
            </a:avLst>
          </a:prstGeom>
          <a:solidFill xmlns:a="http://schemas.openxmlformats.org/drawingml/2006/main">
            <a:srgbClr val="1E293B"/>
          </a:solidFill>
          <a:ln xmlns:a="http://schemas.openxmlformats.org/drawingml/2006/main" w="12700">
            <a:solidFill>
              <a:srgbClr val="1E293B"/>
            </a:solidFill>
            <a:prstDash val="solid"/>
          </a:ln>
        </p:spPr>
      </p:sp>
      <p:sp>
        <p:nvSpPr>
          <p:cNvPr id="10" name="Text 7">
            <a:extLst xmlns:a="http://schemas.openxmlformats.org/drawingml/2006/main">
              <a:ext uri="{FF2B5EF4-FFF2-40B4-BE49-F238E27FC236}">
                <a16:creationId xmlns:a16="http://schemas.microsoft.com/office/drawing/2014/main" id="{FCC397D4-AF32-4445-89A1-19CB6CFC3CC5}"/>
              </a:ext>
            </a:extLst>
          </p:cNvPr>
          <p:cNvSpPr>
            <a:spLocks xmlns:a="http://schemas.openxmlformats.org/drawingml/2006/main" noGrp="1"/>
          </p:cNvSpPr>
          <p:nvPr/>
        </p:nvSpPr>
        <p:spPr>
          <a:xfrm xmlns:a="http://schemas.openxmlformats.org/drawingml/2006/main">
            <a:off x="640080" y="1783080"/>
            <a:ext cx="36576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b="1">
                <a:solidFill>
                  <a:srgbClr val="38BDF8"/>
                </a:solidFill>
                <a:latin typeface="Calibri"/>
                <a:ea typeface="Calibri"/>
                <a:cs typeface="Calibri"/>
              </a:rPr>
              <a:t>2</a:t>
            </a:r>
            <a:endParaRPr sz="2000"/>
          </a:p>
        </p:txBody>
      </p:sp>
      <p:sp>
        <p:nvSpPr>
          <p:cNvPr id="11" name="Text 8">
            <a:extLst xmlns:a="http://schemas.openxmlformats.org/drawingml/2006/main">
              <a:ext uri="{FF2B5EF4-FFF2-40B4-BE49-F238E27FC236}">
                <a16:creationId xmlns:a16="http://schemas.microsoft.com/office/drawing/2014/main" id="{FD3A2323-8020-41FF-B9CB-3203543C549B}"/>
              </a:ext>
            </a:extLst>
          </p:cNvPr>
          <p:cNvSpPr>
            <a:spLocks xmlns:a="http://schemas.openxmlformats.org/drawingml/2006/main" noGrp="1"/>
          </p:cNvSpPr>
          <p:nvPr/>
        </p:nvSpPr>
        <p:spPr>
          <a:xfrm xmlns:a="http://schemas.openxmlformats.org/drawingml/2006/main">
            <a:off x="1097280" y="1783080"/>
            <a:ext cx="630936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a:solidFill>
                  <a:srgbClr val="F1F5F9"/>
                </a:solidFill>
                <a:latin typeface="Calibri"/>
                <a:ea typeface="Calibri"/>
                <a:cs typeface="Calibri"/>
              </a:rPr>
              <a:t>Add simple baselines for comparison</a:t>
            </a:r>
            <a:endParaRPr sz="1400"/>
          </a:p>
        </p:txBody>
      </p:sp>
      <p:sp>
        <p:nvSpPr>
          <p:cNvPr id="12" name="Shape 9">
            <a:extLst xmlns:a="http://schemas.openxmlformats.org/drawingml/2006/main">
              <a:ext uri="{FF2B5EF4-FFF2-40B4-BE49-F238E27FC236}">
                <a16:creationId xmlns:a16="http://schemas.microsoft.com/office/drawing/2014/main" id="{200BE524-4B09-45E9-B844-E49476D5E043}"/>
              </a:ext>
            </a:extLst>
          </p:cNvPr>
          <p:cNvSpPr>
            <a:spLocks xmlns:a="http://schemas.openxmlformats.org/drawingml/2006/main" noGrp="1"/>
          </p:cNvSpPr>
          <p:nvPr/>
        </p:nvSpPr>
        <p:spPr>
          <a:xfrm xmlns:a="http://schemas.openxmlformats.org/drawingml/2006/main">
            <a:off x="7498080" y="1929384"/>
            <a:ext cx="1005840" cy="274320"/>
          </a:xfrm>
          <a:prstGeom xmlns:a="http://schemas.openxmlformats.org/drawingml/2006/main" prst="roundRect">
            <a:avLst>
              <a:gd name="adj" fmla="val 40000"/>
            </a:avLst>
          </a:prstGeom>
          <a:solidFill xmlns:a="http://schemas.openxmlformats.org/drawingml/2006/main">
            <a:srgbClr val="FBBF24"/>
          </a:solidFill>
          <a:ln xmlns:a="http://schemas.openxmlformats.org/drawingml/2006/main" w="12700">
            <a:solidFill>
              <a:srgbClr val="FBBF24"/>
            </a:solidFill>
            <a:prstDash val="solid"/>
          </a:ln>
        </p:spPr>
      </p:sp>
      <p:sp>
        <p:nvSpPr>
          <p:cNvPr id="13" name="Text 10">
            <a:extLst xmlns:a="http://schemas.openxmlformats.org/drawingml/2006/main">
              <a:ext uri="{FF2B5EF4-FFF2-40B4-BE49-F238E27FC236}">
                <a16:creationId xmlns:a16="http://schemas.microsoft.com/office/drawing/2014/main" id="{AF16132E-7226-4DDC-B937-F8D7D0A6905F}"/>
              </a:ext>
            </a:extLst>
          </p:cNvPr>
          <p:cNvSpPr>
            <a:spLocks xmlns:a="http://schemas.openxmlformats.org/drawingml/2006/main" noGrp="1"/>
          </p:cNvSpPr>
          <p:nvPr/>
        </p:nvSpPr>
        <p:spPr>
          <a:xfrm xmlns:a="http://schemas.openxmlformats.org/drawingml/2006/main">
            <a:off x="7498080" y="1929384"/>
            <a:ext cx="10058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0F172A"/>
                </a:solidFill>
                <a:latin typeface="Calibri"/>
                <a:ea typeface="Calibri"/>
                <a:cs typeface="Calibri"/>
              </a:rPr>
              <a:t>Planned</a:t>
            </a:r>
            <a:endParaRPr sz="1100"/>
          </a:p>
        </p:txBody>
      </p:sp>
      <p:sp>
        <p:nvSpPr>
          <p:cNvPr id="14" name="Shape 11">
            <a:extLst xmlns:a="http://schemas.openxmlformats.org/drawingml/2006/main">
              <a:ext uri="{FF2B5EF4-FFF2-40B4-BE49-F238E27FC236}">
                <a16:creationId xmlns:a16="http://schemas.microsoft.com/office/drawing/2014/main" id="{4A6A5BFE-84E7-4133-8129-7639FCAB68AD}"/>
              </a:ext>
            </a:extLst>
          </p:cNvPr>
          <p:cNvSpPr>
            <a:spLocks xmlns:a="http://schemas.openxmlformats.org/drawingml/2006/main" noGrp="1"/>
          </p:cNvSpPr>
          <p:nvPr/>
        </p:nvSpPr>
        <p:spPr>
          <a:xfrm xmlns:a="http://schemas.openxmlformats.org/drawingml/2006/main">
            <a:off x="457200" y="2468880"/>
            <a:ext cx="8229600" cy="566928"/>
          </a:xfrm>
          <a:prstGeom xmlns:a="http://schemas.openxmlformats.org/drawingml/2006/main" prst="roundRect">
            <a:avLst>
              <a:gd name="adj" fmla="val 19355"/>
            </a:avLst>
          </a:prstGeom>
          <a:solidFill xmlns:a="http://schemas.openxmlformats.org/drawingml/2006/main">
            <a:srgbClr val="1E293B"/>
          </a:solidFill>
          <a:ln xmlns:a="http://schemas.openxmlformats.org/drawingml/2006/main" w="12700">
            <a:solidFill>
              <a:srgbClr val="1E293B"/>
            </a:solidFill>
            <a:prstDash val="solid"/>
          </a:ln>
        </p:spPr>
      </p:sp>
      <p:sp>
        <p:nvSpPr>
          <p:cNvPr id="15" name="Text 12">
            <a:extLst xmlns:a="http://schemas.openxmlformats.org/drawingml/2006/main">
              <a:ext uri="{FF2B5EF4-FFF2-40B4-BE49-F238E27FC236}">
                <a16:creationId xmlns:a16="http://schemas.microsoft.com/office/drawing/2014/main" id="{283C4902-2668-454A-BD67-72F32DD2E42A}"/>
              </a:ext>
            </a:extLst>
          </p:cNvPr>
          <p:cNvSpPr>
            <a:spLocks xmlns:a="http://schemas.openxmlformats.org/drawingml/2006/main" noGrp="1"/>
          </p:cNvSpPr>
          <p:nvPr/>
        </p:nvSpPr>
        <p:spPr>
          <a:xfrm xmlns:a="http://schemas.openxmlformats.org/drawingml/2006/main">
            <a:off x="640080" y="2468880"/>
            <a:ext cx="36576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b="1">
                <a:solidFill>
                  <a:srgbClr val="38BDF8"/>
                </a:solidFill>
                <a:latin typeface="Calibri"/>
                <a:ea typeface="Calibri"/>
                <a:cs typeface="Calibri"/>
              </a:rPr>
              <a:t>3</a:t>
            </a:r>
            <a:endParaRPr sz="2000"/>
          </a:p>
        </p:txBody>
      </p:sp>
      <p:sp>
        <p:nvSpPr>
          <p:cNvPr id="16" name="Text 13">
            <a:extLst xmlns:a="http://schemas.openxmlformats.org/drawingml/2006/main">
              <a:ext uri="{FF2B5EF4-FFF2-40B4-BE49-F238E27FC236}">
                <a16:creationId xmlns:a16="http://schemas.microsoft.com/office/drawing/2014/main" id="{3684E207-8C33-47E4-95B1-71D6E64C139E}"/>
              </a:ext>
            </a:extLst>
          </p:cNvPr>
          <p:cNvSpPr>
            <a:spLocks xmlns:a="http://schemas.openxmlformats.org/drawingml/2006/main" noGrp="1"/>
          </p:cNvSpPr>
          <p:nvPr/>
        </p:nvSpPr>
        <p:spPr>
          <a:xfrm xmlns:a="http://schemas.openxmlformats.org/drawingml/2006/main">
            <a:off x="1097280" y="2468880"/>
            <a:ext cx="630936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a:solidFill>
                  <a:srgbClr val="F1F5F9"/>
                </a:solidFill>
                <a:latin typeface="Calibri"/>
                <a:ea typeface="Calibri"/>
                <a:cs typeface="Calibri"/>
              </a:rPr>
              <a:t>Define the search space and run NSGA-II (error, size, robustness)</a:t>
            </a:r>
            <a:endParaRPr sz="1400"/>
          </a:p>
        </p:txBody>
      </p:sp>
      <p:sp>
        <p:nvSpPr>
          <p:cNvPr id="17" name="Shape 14">
            <a:extLst xmlns:a="http://schemas.openxmlformats.org/drawingml/2006/main">
              <a:ext uri="{FF2B5EF4-FFF2-40B4-BE49-F238E27FC236}">
                <a16:creationId xmlns:a16="http://schemas.microsoft.com/office/drawing/2014/main" id="{D3CBE7FA-A5CC-42FC-8127-83C5EEE874E8}"/>
              </a:ext>
            </a:extLst>
          </p:cNvPr>
          <p:cNvSpPr>
            <a:spLocks xmlns:a="http://schemas.openxmlformats.org/drawingml/2006/main" noGrp="1"/>
          </p:cNvSpPr>
          <p:nvPr/>
        </p:nvSpPr>
        <p:spPr>
          <a:xfrm xmlns:a="http://schemas.openxmlformats.org/drawingml/2006/main">
            <a:off x="7498080" y="2615184"/>
            <a:ext cx="1005840" cy="274320"/>
          </a:xfrm>
          <a:prstGeom xmlns:a="http://schemas.openxmlformats.org/drawingml/2006/main" prst="roundRect">
            <a:avLst>
              <a:gd name="adj" fmla="val 40000"/>
            </a:avLst>
          </a:prstGeom>
          <a:solidFill xmlns:a="http://schemas.openxmlformats.org/drawingml/2006/main">
            <a:srgbClr val="FBBF24"/>
          </a:solidFill>
          <a:ln xmlns:a="http://schemas.openxmlformats.org/drawingml/2006/main" w="12700">
            <a:solidFill>
              <a:srgbClr val="FBBF24"/>
            </a:solidFill>
            <a:prstDash val="solid"/>
          </a:ln>
        </p:spPr>
      </p:sp>
      <p:sp>
        <p:nvSpPr>
          <p:cNvPr id="18" name="Text 15">
            <a:extLst xmlns:a="http://schemas.openxmlformats.org/drawingml/2006/main">
              <a:ext uri="{FF2B5EF4-FFF2-40B4-BE49-F238E27FC236}">
                <a16:creationId xmlns:a16="http://schemas.microsoft.com/office/drawing/2014/main" id="{4DA4EA17-D827-452E-815B-6ACB7B545058}"/>
              </a:ext>
            </a:extLst>
          </p:cNvPr>
          <p:cNvSpPr>
            <a:spLocks xmlns:a="http://schemas.openxmlformats.org/drawingml/2006/main" noGrp="1"/>
          </p:cNvSpPr>
          <p:nvPr/>
        </p:nvSpPr>
        <p:spPr>
          <a:xfrm xmlns:a="http://schemas.openxmlformats.org/drawingml/2006/main">
            <a:off x="7498080" y="2615184"/>
            <a:ext cx="10058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0F172A"/>
                </a:solidFill>
                <a:latin typeface="Calibri"/>
                <a:ea typeface="Calibri"/>
                <a:cs typeface="Calibri"/>
              </a:rPr>
              <a:t>Planned</a:t>
            </a:r>
            <a:endParaRPr sz="1100"/>
          </a:p>
        </p:txBody>
      </p:sp>
      <p:sp>
        <p:nvSpPr>
          <p:cNvPr id="19" name="Shape 16">
            <a:extLst xmlns:a="http://schemas.openxmlformats.org/drawingml/2006/main">
              <a:ext uri="{FF2B5EF4-FFF2-40B4-BE49-F238E27FC236}">
                <a16:creationId xmlns:a16="http://schemas.microsoft.com/office/drawing/2014/main" id="{C5DEA57E-4FA4-4583-881B-1BE9FB8BFB2C}"/>
              </a:ext>
            </a:extLst>
          </p:cNvPr>
          <p:cNvSpPr>
            <a:spLocks xmlns:a="http://schemas.openxmlformats.org/drawingml/2006/main" noGrp="1"/>
          </p:cNvSpPr>
          <p:nvPr/>
        </p:nvSpPr>
        <p:spPr>
          <a:xfrm xmlns:a="http://schemas.openxmlformats.org/drawingml/2006/main">
            <a:off x="457200" y="3154680"/>
            <a:ext cx="8229600" cy="566928"/>
          </a:xfrm>
          <a:prstGeom xmlns:a="http://schemas.openxmlformats.org/drawingml/2006/main" prst="roundRect">
            <a:avLst>
              <a:gd name="adj" fmla="val 19355"/>
            </a:avLst>
          </a:prstGeom>
          <a:solidFill xmlns:a="http://schemas.openxmlformats.org/drawingml/2006/main">
            <a:srgbClr val="1E293B"/>
          </a:solidFill>
          <a:ln xmlns:a="http://schemas.openxmlformats.org/drawingml/2006/main" w="12700">
            <a:solidFill>
              <a:srgbClr val="1E293B"/>
            </a:solidFill>
            <a:prstDash val="solid"/>
          </a:ln>
        </p:spPr>
      </p:sp>
      <p:sp>
        <p:nvSpPr>
          <p:cNvPr id="20" name="Text 17">
            <a:extLst xmlns:a="http://schemas.openxmlformats.org/drawingml/2006/main">
              <a:ext uri="{FF2B5EF4-FFF2-40B4-BE49-F238E27FC236}">
                <a16:creationId xmlns:a16="http://schemas.microsoft.com/office/drawing/2014/main" id="{7CEC44C4-3D6D-42A1-ABCC-96554DE04D0D}"/>
              </a:ext>
            </a:extLst>
          </p:cNvPr>
          <p:cNvSpPr>
            <a:spLocks xmlns:a="http://schemas.openxmlformats.org/drawingml/2006/main" noGrp="1"/>
          </p:cNvSpPr>
          <p:nvPr/>
        </p:nvSpPr>
        <p:spPr>
          <a:xfrm xmlns:a="http://schemas.openxmlformats.org/drawingml/2006/main">
            <a:off x="640080" y="3154680"/>
            <a:ext cx="36576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b="1">
                <a:solidFill>
                  <a:srgbClr val="38BDF8"/>
                </a:solidFill>
                <a:latin typeface="Calibri"/>
                <a:ea typeface="Calibri"/>
                <a:cs typeface="Calibri"/>
              </a:rPr>
              <a:t>4</a:t>
            </a:r>
            <a:endParaRPr sz="2000"/>
          </a:p>
        </p:txBody>
      </p:sp>
      <p:sp>
        <p:nvSpPr>
          <p:cNvPr id="21" name="Text 18">
            <a:extLst xmlns:a="http://schemas.openxmlformats.org/drawingml/2006/main">
              <a:ext uri="{FF2B5EF4-FFF2-40B4-BE49-F238E27FC236}">
                <a16:creationId xmlns:a16="http://schemas.microsoft.com/office/drawing/2014/main" id="{76859722-F4EB-41E5-B53A-05051E639C9C}"/>
              </a:ext>
            </a:extLst>
          </p:cNvPr>
          <p:cNvSpPr>
            <a:spLocks xmlns:a="http://schemas.openxmlformats.org/drawingml/2006/main" noGrp="1"/>
          </p:cNvSpPr>
          <p:nvPr/>
        </p:nvSpPr>
        <p:spPr>
          <a:xfrm xmlns:a="http://schemas.openxmlformats.org/drawingml/2006/main">
            <a:off x="1097280" y="3154680"/>
            <a:ext cx="630936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a:solidFill>
                  <a:srgbClr val="F1F5F9"/>
                </a:solidFill>
                <a:latin typeface="Calibri"/>
                <a:ea typeface="Calibri"/>
                <a:cs typeface="Calibri"/>
              </a:rPr>
              <a:t>Test under shifted conditions (e.g. weather, other time periods)</a:t>
            </a:r>
            <a:endParaRPr sz="1400"/>
          </a:p>
        </p:txBody>
      </p:sp>
      <p:sp>
        <p:nvSpPr>
          <p:cNvPr id="22" name="Shape 19">
            <a:extLst xmlns:a="http://schemas.openxmlformats.org/drawingml/2006/main">
              <a:ext uri="{FF2B5EF4-FFF2-40B4-BE49-F238E27FC236}">
                <a16:creationId xmlns:a16="http://schemas.microsoft.com/office/drawing/2014/main" id="{0D79DEEE-3898-450B-BF74-D3CDA491FB31}"/>
              </a:ext>
            </a:extLst>
          </p:cNvPr>
          <p:cNvSpPr>
            <a:spLocks xmlns:a="http://schemas.openxmlformats.org/drawingml/2006/main" noGrp="1"/>
          </p:cNvSpPr>
          <p:nvPr/>
        </p:nvSpPr>
        <p:spPr>
          <a:xfrm xmlns:a="http://schemas.openxmlformats.org/drawingml/2006/main">
            <a:off x="7498080" y="3300984"/>
            <a:ext cx="1005840" cy="274320"/>
          </a:xfrm>
          <a:prstGeom xmlns:a="http://schemas.openxmlformats.org/drawingml/2006/main" prst="roundRect">
            <a:avLst>
              <a:gd name="adj" fmla="val 40000"/>
            </a:avLst>
          </a:prstGeom>
          <a:solidFill xmlns:a="http://schemas.openxmlformats.org/drawingml/2006/main">
            <a:srgbClr val="FBBF24"/>
          </a:solidFill>
          <a:ln xmlns:a="http://schemas.openxmlformats.org/drawingml/2006/main" w="12700">
            <a:solidFill>
              <a:srgbClr val="FBBF24"/>
            </a:solidFill>
            <a:prstDash val="solid"/>
          </a:ln>
        </p:spPr>
      </p:sp>
      <p:sp>
        <p:nvSpPr>
          <p:cNvPr id="23" name="Text 20">
            <a:extLst xmlns:a="http://schemas.openxmlformats.org/drawingml/2006/main">
              <a:ext uri="{FF2B5EF4-FFF2-40B4-BE49-F238E27FC236}">
                <a16:creationId xmlns:a16="http://schemas.microsoft.com/office/drawing/2014/main" id="{3B46F654-C263-4C33-988A-9E29DFF66B8B}"/>
              </a:ext>
            </a:extLst>
          </p:cNvPr>
          <p:cNvSpPr>
            <a:spLocks xmlns:a="http://schemas.openxmlformats.org/drawingml/2006/main" noGrp="1"/>
          </p:cNvSpPr>
          <p:nvPr/>
        </p:nvSpPr>
        <p:spPr>
          <a:xfrm xmlns:a="http://schemas.openxmlformats.org/drawingml/2006/main">
            <a:off x="7498080" y="3300984"/>
            <a:ext cx="10058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0F172A"/>
                </a:solidFill>
                <a:latin typeface="Calibri"/>
                <a:ea typeface="Calibri"/>
                <a:cs typeface="Calibri"/>
              </a:rPr>
              <a:t>Planned</a:t>
            </a:r>
            <a:endParaRPr sz="1100"/>
          </a:p>
        </p:txBody>
      </p:sp>
      <p:sp>
        <p:nvSpPr>
          <p:cNvPr id="24" name="Shape 21">
            <a:extLst xmlns:a="http://schemas.openxmlformats.org/drawingml/2006/main">
              <a:ext uri="{FF2B5EF4-FFF2-40B4-BE49-F238E27FC236}">
                <a16:creationId xmlns:a16="http://schemas.microsoft.com/office/drawing/2014/main" id="{860B618F-BC38-464A-AE7B-E8E0899F06EF}"/>
              </a:ext>
            </a:extLst>
          </p:cNvPr>
          <p:cNvSpPr>
            <a:spLocks xmlns:a="http://schemas.openxmlformats.org/drawingml/2006/main" noGrp="1"/>
          </p:cNvSpPr>
          <p:nvPr/>
        </p:nvSpPr>
        <p:spPr>
          <a:xfrm xmlns:a="http://schemas.openxmlformats.org/drawingml/2006/main">
            <a:off x="457200" y="3840480"/>
            <a:ext cx="8229600" cy="566928"/>
          </a:xfrm>
          <a:prstGeom xmlns:a="http://schemas.openxmlformats.org/drawingml/2006/main" prst="roundRect">
            <a:avLst>
              <a:gd name="adj" fmla="val 19355"/>
            </a:avLst>
          </a:prstGeom>
          <a:solidFill xmlns:a="http://schemas.openxmlformats.org/drawingml/2006/main">
            <a:srgbClr val="1E293B"/>
          </a:solidFill>
          <a:ln xmlns:a="http://schemas.openxmlformats.org/drawingml/2006/main" w="12700">
            <a:solidFill>
              <a:srgbClr val="1E293B"/>
            </a:solidFill>
            <a:prstDash val="solid"/>
          </a:ln>
        </p:spPr>
      </p:sp>
      <p:sp>
        <p:nvSpPr>
          <p:cNvPr id="25" name="Text 22">
            <a:extLst xmlns:a="http://schemas.openxmlformats.org/drawingml/2006/main">
              <a:ext uri="{FF2B5EF4-FFF2-40B4-BE49-F238E27FC236}">
                <a16:creationId xmlns:a16="http://schemas.microsoft.com/office/drawing/2014/main" id="{2282CEE8-28BD-47BF-8F07-925C8E26001A}"/>
              </a:ext>
            </a:extLst>
          </p:cNvPr>
          <p:cNvSpPr>
            <a:spLocks xmlns:a="http://schemas.openxmlformats.org/drawingml/2006/main" noGrp="1"/>
          </p:cNvSpPr>
          <p:nvPr/>
        </p:nvSpPr>
        <p:spPr>
          <a:xfrm xmlns:a="http://schemas.openxmlformats.org/drawingml/2006/main">
            <a:off x="640080" y="3840480"/>
            <a:ext cx="36576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b="1">
                <a:solidFill>
                  <a:srgbClr val="38BDF8"/>
                </a:solidFill>
                <a:latin typeface="Calibri"/>
                <a:ea typeface="Calibri"/>
                <a:cs typeface="Calibri"/>
              </a:rPr>
              <a:t>5</a:t>
            </a:r>
            <a:endParaRPr sz="2000"/>
          </a:p>
        </p:txBody>
      </p:sp>
      <p:sp>
        <p:nvSpPr>
          <p:cNvPr id="26" name="Text 23">
            <a:extLst xmlns:a="http://schemas.openxmlformats.org/drawingml/2006/main">
              <a:ext uri="{FF2B5EF4-FFF2-40B4-BE49-F238E27FC236}">
                <a16:creationId xmlns:a16="http://schemas.microsoft.com/office/drawing/2014/main" id="{29F9F6B0-2800-489B-B6D1-CCC0FCBDEA58}"/>
              </a:ext>
            </a:extLst>
          </p:cNvPr>
          <p:cNvSpPr>
            <a:spLocks xmlns:a="http://schemas.openxmlformats.org/drawingml/2006/main" noGrp="1"/>
          </p:cNvSpPr>
          <p:nvPr/>
        </p:nvSpPr>
        <p:spPr>
          <a:xfrm xmlns:a="http://schemas.openxmlformats.org/drawingml/2006/main">
            <a:off x="1097280" y="3840480"/>
            <a:ext cx="630936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a:solidFill>
                  <a:srgbClr val="F1F5F9"/>
                </a:solidFill>
                <a:latin typeface="Calibri"/>
                <a:ea typeface="Calibri"/>
                <a:cs typeface="Calibri"/>
              </a:rPr>
              <a:t>Add incident prediction if usable labelled data is found</a:t>
            </a:r>
            <a:endParaRPr sz="1400"/>
          </a:p>
        </p:txBody>
      </p:sp>
      <p:sp>
        <p:nvSpPr>
          <p:cNvPr id="27" name="Shape 24">
            <a:extLst xmlns:a="http://schemas.openxmlformats.org/drawingml/2006/main">
              <a:ext uri="{FF2B5EF4-FFF2-40B4-BE49-F238E27FC236}">
                <a16:creationId xmlns:a16="http://schemas.microsoft.com/office/drawing/2014/main" id="{7EA405C9-5A33-449D-BDE0-91B8BF8E6854}"/>
              </a:ext>
            </a:extLst>
          </p:cNvPr>
          <p:cNvSpPr>
            <a:spLocks xmlns:a="http://schemas.openxmlformats.org/drawingml/2006/main" noGrp="1"/>
          </p:cNvSpPr>
          <p:nvPr/>
        </p:nvSpPr>
        <p:spPr>
          <a:xfrm xmlns:a="http://schemas.openxmlformats.org/drawingml/2006/main">
            <a:off x="7498080" y="3986784"/>
            <a:ext cx="1005840" cy="274320"/>
          </a:xfrm>
          <a:prstGeom xmlns:a="http://schemas.openxmlformats.org/drawingml/2006/main" prst="roundRect">
            <a:avLst>
              <a:gd name="adj" fmla="val 40000"/>
            </a:avLst>
          </a:prstGeom>
          <a:solidFill xmlns:a="http://schemas.openxmlformats.org/drawingml/2006/main">
            <a:srgbClr val="FBBF24"/>
          </a:solidFill>
          <a:ln xmlns:a="http://schemas.openxmlformats.org/drawingml/2006/main" w="12700">
            <a:solidFill>
              <a:srgbClr val="FBBF24"/>
            </a:solidFill>
            <a:prstDash val="solid"/>
          </a:ln>
        </p:spPr>
      </p:sp>
      <p:sp>
        <p:nvSpPr>
          <p:cNvPr id="28" name="Text 25">
            <a:extLst xmlns:a="http://schemas.openxmlformats.org/drawingml/2006/main">
              <a:ext uri="{FF2B5EF4-FFF2-40B4-BE49-F238E27FC236}">
                <a16:creationId xmlns:a16="http://schemas.microsoft.com/office/drawing/2014/main" id="{1407A3ED-CC1D-4FB4-84B8-165AA9AB51BD}"/>
              </a:ext>
            </a:extLst>
          </p:cNvPr>
          <p:cNvSpPr>
            <a:spLocks xmlns:a="http://schemas.openxmlformats.org/drawingml/2006/main" noGrp="1"/>
          </p:cNvSpPr>
          <p:nvPr/>
        </p:nvSpPr>
        <p:spPr>
          <a:xfrm xmlns:a="http://schemas.openxmlformats.org/drawingml/2006/main">
            <a:off x="7498080" y="3986784"/>
            <a:ext cx="10058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0F172A"/>
                </a:solidFill>
                <a:latin typeface="Calibri"/>
                <a:ea typeface="Calibri"/>
                <a:cs typeface="Calibri"/>
              </a:rPr>
              <a:t>Planned</a:t>
            </a:r>
            <a:endParaRPr sz="1100"/>
          </a:p>
        </p:txBody>
      </p:sp>
      <p:sp>
        <p:nvSpPr>
          <p:cNvPr id="29" name="Text 26">
            <a:extLst xmlns:a="http://schemas.openxmlformats.org/drawingml/2006/main">
              <a:ext uri="{FF2B5EF4-FFF2-40B4-BE49-F238E27FC236}">
                <a16:creationId xmlns:a16="http://schemas.microsoft.com/office/drawing/2014/main" id="{28195628-F228-4361-A508-B8E3E11BC336}"/>
              </a:ext>
            </a:extLst>
          </p:cNvPr>
          <p:cNvSpPr>
            <a:spLocks xmlns:a="http://schemas.openxmlformats.org/drawingml/2006/main" noGrp="1"/>
          </p:cNvSpPr>
          <p:nvPr/>
        </p:nvSpPr>
        <p:spPr>
          <a:xfrm xmlns:a="http://schemas.openxmlformats.org/drawingml/2006/main">
            <a:off x="457200" y="4572000"/>
            <a:ext cx="82296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a:solidFill>
                  <a:srgbClr val="FBBF24"/>
                </a:solidFill>
                <a:latin typeface="Calibri"/>
                <a:ea typeface="Calibri"/>
                <a:cs typeface="Calibri"/>
              </a:rPr>
              <a:t/>
            </a:r>
            <a:endParaRPr sz="1300"/>
          </a:p>
        </p:txBody>
      </p:sp>
    </p:spTree>
    <p:extLst>
      <p:ext uri="{BB962C8B-B14F-4D97-AF65-F5344CB8AC3E}">
        <p14:creationId xmlns:p14="http://schemas.microsoft.com/office/powerpoint/2010/main" val="2141994974"/>
      </p:ext>
    </p:extLst>
  </p:cSld>
</p:sld>
</file>

<file path=ppt/slides/slide10.xml><?xml version="1.0" encoding="utf-8"?>
<p:sld xmlns:p="http://schemas.openxmlformats.org/presentationml/2006/main">
  <p:cSld>
    <p:bg>
      <p:bgPr>
        <a:solidFill xmlns:a="http://schemas.openxmlformats.org/drawingml/2006/main">
          <a:srgbClr val="0F172A"/>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D129344A-FE02-4E07-B1A8-2A05C26FF393}"/>
              </a:ext>
            </a:extLst>
          </p:cNvPr>
          <p:cNvSpPr>
            <a:spLocks xmlns:a="http://schemas.openxmlformats.org/drawingml/2006/main" noGrp="1"/>
          </p:cNvSpPr>
          <p:nvPr/>
        </p:nvSpPr>
        <p:spPr>
          <a:xfrm xmlns:a="http://schemas.openxmlformats.org/drawingml/2006/main">
            <a:off x="457200" y="274320"/>
            <a:ext cx="822960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b="1">
                <a:solidFill>
                  <a:srgbClr val="F1F5F9"/>
                </a:solidFill>
                <a:latin typeface="Calibri"/>
                <a:ea typeface="Calibri"/>
                <a:cs typeface="Calibri"/>
              </a:rPr>
              <a:t>Conclusion</a:t>
            </a:r>
            <a:endParaRPr sz="2800"/>
          </a:p>
        </p:txBody>
      </p:sp>
      <p:sp>
        <p:nvSpPr>
          <p:cNvPr id="4" name="Shape 1">
            <a:extLst xmlns:a="http://schemas.openxmlformats.org/drawingml/2006/main">
              <a:ext uri="{FF2B5EF4-FFF2-40B4-BE49-F238E27FC236}">
                <a16:creationId xmlns:a16="http://schemas.microsoft.com/office/drawing/2014/main" id="{0DBE5BCB-6FA3-4E72-90BA-CCD427E57368}"/>
              </a:ext>
            </a:extLst>
          </p:cNvPr>
          <p:cNvSpPr>
            <a:spLocks xmlns:a="http://schemas.openxmlformats.org/drawingml/2006/main" noGrp="1"/>
          </p:cNvSpPr>
          <p:nvPr/>
        </p:nvSpPr>
        <p:spPr>
          <a:xfrm xmlns:a="http://schemas.openxmlformats.org/drawingml/2006/main">
            <a:off x="457200" y="1188720"/>
            <a:ext cx="2606040" cy="2103120"/>
          </a:xfrm>
          <a:prstGeom xmlns:a="http://schemas.openxmlformats.org/drawingml/2006/main" prst="roundRect">
            <a:avLst>
              <a:gd name="adj" fmla="val 5217"/>
            </a:avLst>
          </a:prstGeom>
          <a:solidFill xmlns:a="http://schemas.openxmlformats.org/drawingml/2006/main">
            <a:srgbClr val="1E293B"/>
          </a:solidFill>
          <a:ln xmlns:a="http://schemas.openxmlformats.org/drawingml/2006/main" w="12700">
            <a:solidFill>
              <a:srgbClr val="1E293B"/>
            </a:solidFill>
            <a:prstDash val="solid"/>
          </a:ln>
        </p:spPr>
      </p:sp>
      <p:sp>
        <p:nvSpPr>
          <p:cNvPr id="5" name="Text 2">
            <a:extLst xmlns:a="http://schemas.openxmlformats.org/drawingml/2006/main">
              <a:ext uri="{FF2B5EF4-FFF2-40B4-BE49-F238E27FC236}">
                <a16:creationId xmlns:a16="http://schemas.microsoft.com/office/drawing/2014/main" id="{81FD0B11-A0AC-4848-A508-D83CA0BB0B07}"/>
              </a:ext>
            </a:extLst>
          </p:cNvPr>
          <p:cNvSpPr>
            <a:spLocks xmlns:a="http://schemas.openxmlformats.org/drawingml/2006/main" noGrp="1"/>
          </p:cNvSpPr>
          <p:nvPr/>
        </p:nvSpPr>
        <p:spPr>
          <a:xfrm xmlns:a="http://schemas.openxmlformats.org/drawingml/2006/main">
            <a:off x="640080" y="1371600"/>
            <a:ext cx="224028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a:solidFill>
                  <a:srgbClr val="F1F5F9"/>
                </a:solidFill>
                <a:latin typeface="Calibri"/>
                <a:ea typeface="Calibri"/>
                <a:cs typeface="Calibri"/>
              </a:rPr>
              <a:t>GNN+GRU forecaster trained; checkpoint and summary saved</a:t>
            </a:r>
            <a:endParaRPr sz="1500"/>
          </a:p>
        </p:txBody>
      </p:sp>
      <p:sp>
        <p:nvSpPr>
          <p:cNvPr id="6" name="Shape 3">
            <a:extLst xmlns:a="http://schemas.openxmlformats.org/drawingml/2006/main">
              <a:ext uri="{FF2B5EF4-FFF2-40B4-BE49-F238E27FC236}">
                <a16:creationId xmlns:a16="http://schemas.microsoft.com/office/drawing/2014/main" id="{412D9C3E-9DF7-49E6-BF7B-5ED5A76C7319}"/>
              </a:ext>
            </a:extLst>
          </p:cNvPr>
          <p:cNvSpPr>
            <a:spLocks xmlns:a="http://schemas.openxmlformats.org/drawingml/2006/main" noGrp="1"/>
          </p:cNvSpPr>
          <p:nvPr/>
        </p:nvSpPr>
        <p:spPr>
          <a:xfrm xmlns:a="http://schemas.openxmlformats.org/drawingml/2006/main">
            <a:off x="640080" y="2788920"/>
            <a:ext cx="1188720" cy="274320"/>
          </a:xfrm>
          <a:prstGeom xmlns:a="http://schemas.openxmlformats.org/drawingml/2006/main" prst="roundRect">
            <a:avLst>
              <a:gd name="adj" fmla="val 40000"/>
            </a:avLst>
          </a:prstGeom>
          <a:solidFill xmlns:a="http://schemas.openxmlformats.org/drawingml/2006/main">
            <a:srgbClr val="34D399"/>
          </a:solidFill>
          <a:ln xmlns:a="http://schemas.openxmlformats.org/drawingml/2006/main" w="12700">
            <a:solidFill>
              <a:srgbClr val="34D399"/>
            </a:solidFill>
            <a:prstDash val="solid"/>
          </a:ln>
        </p:spPr>
      </p:sp>
      <p:sp>
        <p:nvSpPr>
          <p:cNvPr id="7" name="Text 4">
            <a:extLst xmlns:a="http://schemas.openxmlformats.org/drawingml/2006/main">
              <a:ext uri="{FF2B5EF4-FFF2-40B4-BE49-F238E27FC236}">
                <a16:creationId xmlns:a16="http://schemas.microsoft.com/office/drawing/2014/main" id="{0D0E2628-154A-476F-823B-9244C4E24069}"/>
              </a:ext>
            </a:extLst>
          </p:cNvPr>
          <p:cNvSpPr>
            <a:spLocks xmlns:a="http://schemas.openxmlformats.org/drawingml/2006/main" noGrp="1"/>
          </p:cNvSpPr>
          <p:nvPr/>
        </p:nvSpPr>
        <p:spPr>
          <a:xfrm xmlns:a="http://schemas.openxmlformats.org/drawingml/2006/main">
            <a:off x="640080" y="2788920"/>
            <a:ext cx="11887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0F172A"/>
                </a:solidFill>
                <a:latin typeface="Calibri"/>
                <a:ea typeface="Calibri"/>
                <a:cs typeface="Calibri"/>
              </a:rPr>
              <a:t>Implemented</a:t>
            </a:r>
            <a:endParaRPr sz="1100"/>
          </a:p>
        </p:txBody>
      </p:sp>
      <p:sp>
        <p:nvSpPr>
          <p:cNvPr id="8" name="Shape 5">
            <a:extLst xmlns:a="http://schemas.openxmlformats.org/drawingml/2006/main">
              <a:ext uri="{FF2B5EF4-FFF2-40B4-BE49-F238E27FC236}">
                <a16:creationId xmlns:a16="http://schemas.microsoft.com/office/drawing/2014/main" id="{FBA70E62-B95C-4A56-ACE3-D6F896B68C19}"/>
              </a:ext>
            </a:extLst>
          </p:cNvPr>
          <p:cNvSpPr>
            <a:spLocks xmlns:a="http://schemas.openxmlformats.org/drawingml/2006/main" noGrp="1"/>
          </p:cNvSpPr>
          <p:nvPr/>
        </p:nvSpPr>
        <p:spPr>
          <a:xfrm xmlns:a="http://schemas.openxmlformats.org/drawingml/2006/main">
            <a:off x="3268980" y="1188720"/>
            <a:ext cx="2606040" cy="2103120"/>
          </a:xfrm>
          <a:prstGeom xmlns:a="http://schemas.openxmlformats.org/drawingml/2006/main" prst="roundRect">
            <a:avLst>
              <a:gd name="adj" fmla="val 5217"/>
            </a:avLst>
          </a:prstGeom>
          <a:solidFill xmlns:a="http://schemas.openxmlformats.org/drawingml/2006/main">
            <a:srgbClr val="1E293B"/>
          </a:solidFill>
          <a:ln xmlns:a="http://schemas.openxmlformats.org/drawingml/2006/main" w="12700">
            <a:solidFill>
              <a:srgbClr val="1E293B"/>
            </a:solidFill>
            <a:prstDash val="solid"/>
          </a:ln>
        </p:spPr>
      </p:sp>
      <p:sp>
        <p:nvSpPr>
          <p:cNvPr id="9" name="Text 6">
            <a:extLst xmlns:a="http://schemas.openxmlformats.org/drawingml/2006/main">
              <a:ext uri="{FF2B5EF4-FFF2-40B4-BE49-F238E27FC236}">
                <a16:creationId xmlns:a16="http://schemas.microsoft.com/office/drawing/2014/main" id="{39563BAF-E2E9-49A1-88F6-D081E43C9B5E}"/>
              </a:ext>
            </a:extLst>
          </p:cNvPr>
          <p:cNvSpPr>
            <a:spLocks xmlns:a="http://schemas.openxmlformats.org/drawingml/2006/main" noGrp="1"/>
          </p:cNvSpPr>
          <p:nvPr/>
        </p:nvSpPr>
        <p:spPr>
          <a:xfrm xmlns:a="http://schemas.openxmlformats.org/drawingml/2006/main">
            <a:off x="3451860" y="1371600"/>
            <a:ext cx="224028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a:solidFill>
                  <a:srgbClr val="F1F5F9"/>
                </a:solidFill>
                <a:latin typeface="Calibri"/>
                <a:ea typeface="Calibri"/>
                <a:cs typeface="Calibri"/>
              </a:rPr>
              <a:t>Best validation MAE: 4.658 mph (not test)</a:t>
            </a:r>
            <a:endParaRPr sz="1500"/>
          </a:p>
        </p:txBody>
      </p:sp>
      <p:sp>
        <p:nvSpPr>
          <p:cNvPr id="10" name="Shape 7">
            <a:extLst xmlns:a="http://schemas.openxmlformats.org/drawingml/2006/main">
              <a:ext uri="{FF2B5EF4-FFF2-40B4-BE49-F238E27FC236}">
                <a16:creationId xmlns:a16="http://schemas.microsoft.com/office/drawing/2014/main" id="{3DAE670B-1D66-4F02-A7F8-1AEB99D85BC7}"/>
              </a:ext>
            </a:extLst>
          </p:cNvPr>
          <p:cNvSpPr>
            <a:spLocks xmlns:a="http://schemas.openxmlformats.org/drawingml/2006/main" noGrp="1"/>
          </p:cNvSpPr>
          <p:nvPr/>
        </p:nvSpPr>
        <p:spPr>
          <a:xfrm xmlns:a="http://schemas.openxmlformats.org/drawingml/2006/main">
            <a:off x="3451860" y="2788920"/>
            <a:ext cx="1188720" cy="274320"/>
          </a:xfrm>
          <a:prstGeom xmlns:a="http://schemas.openxmlformats.org/drawingml/2006/main" prst="roundRect">
            <a:avLst>
              <a:gd name="adj" fmla="val 40000"/>
            </a:avLst>
          </a:prstGeom>
          <a:solidFill xmlns:a="http://schemas.openxmlformats.org/drawingml/2006/main">
            <a:srgbClr val="34D399"/>
          </a:solidFill>
          <a:ln xmlns:a="http://schemas.openxmlformats.org/drawingml/2006/main" w="12700">
            <a:solidFill>
              <a:srgbClr val="34D399"/>
            </a:solidFill>
            <a:prstDash val="solid"/>
          </a:ln>
        </p:spPr>
      </p:sp>
      <p:sp>
        <p:nvSpPr>
          <p:cNvPr id="11" name="Text 8">
            <a:extLst xmlns:a="http://schemas.openxmlformats.org/drawingml/2006/main">
              <a:ext uri="{FF2B5EF4-FFF2-40B4-BE49-F238E27FC236}">
                <a16:creationId xmlns:a16="http://schemas.microsoft.com/office/drawing/2014/main" id="{D8527F3F-0687-4F31-A0AF-B36862377546}"/>
              </a:ext>
            </a:extLst>
          </p:cNvPr>
          <p:cNvSpPr>
            <a:spLocks xmlns:a="http://schemas.openxmlformats.org/drawingml/2006/main" noGrp="1"/>
          </p:cNvSpPr>
          <p:nvPr/>
        </p:nvSpPr>
        <p:spPr>
          <a:xfrm xmlns:a="http://schemas.openxmlformats.org/drawingml/2006/main">
            <a:off x="3451860" y="2788920"/>
            <a:ext cx="11887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0F172A"/>
                </a:solidFill>
                <a:latin typeface="Calibri"/>
                <a:ea typeface="Calibri"/>
                <a:cs typeface="Calibri"/>
              </a:rPr>
              <a:t>Measured</a:t>
            </a:r>
            <a:endParaRPr sz="1100"/>
          </a:p>
        </p:txBody>
      </p:sp>
      <p:sp>
        <p:nvSpPr>
          <p:cNvPr id="12" name="Shape 9">
            <a:extLst xmlns:a="http://schemas.openxmlformats.org/drawingml/2006/main">
              <a:ext uri="{FF2B5EF4-FFF2-40B4-BE49-F238E27FC236}">
                <a16:creationId xmlns:a16="http://schemas.microsoft.com/office/drawing/2014/main" id="{2C298B85-8EC0-47C2-8B66-3C20C4E1A63A}"/>
              </a:ext>
            </a:extLst>
          </p:cNvPr>
          <p:cNvSpPr>
            <a:spLocks xmlns:a="http://schemas.openxmlformats.org/drawingml/2006/main" noGrp="1"/>
          </p:cNvSpPr>
          <p:nvPr/>
        </p:nvSpPr>
        <p:spPr>
          <a:xfrm xmlns:a="http://schemas.openxmlformats.org/drawingml/2006/main">
            <a:off x="6080760" y="1188720"/>
            <a:ext cx="2606040" cy="2103120"/>
          </a:xfrm>
          <a:prstGeom xmlns:a="http://schemas.openxmlformats.org/drawingml/2006/main" prst="roundRect">
            <a:avLst>
              <a:gd name="adj" fmla="val 5217"/>
            </a:avLst>
          </a:prstGeom>
          <a:solidFill xmlns:a="http://schemas.openxmlformats.org/drawingml/2006/main">
            <a:srgbClr val="1E293B"/>
          </a:solidFill>
          <a:ln xmlns:a="http://schemas.openxmlformats.org/drawingml/2006/main" w="12700">
            <a:solidFill>
              <a:srgbClr val="1E293B"/>
            </a:solidFill>
            <a:prstDash val="solid"/>
          </a:ln>
        </p:spPr>
      </p:sp>
      <p:sp>
        <p:nvSpPr>
          <p:cNvPr id="13" name="Text 10">
            <a:extLst xmlns:a="http://schemas.openxmlformats.org/drawingml/2006/main">
              <a:ext uri="{FF2B5EF4-FFF2-40B4-BE49-F238E27FC236}">
                <a16:creationId xmlns:a16="http://schemas.microsoft.com/office/drawing/2014/main" id="{E911B8DF-492D-45D6-B511-8ACCC5806FE2}"/>
              </a:ext>
            </a:extLst>
          </p:cNvPr>
          <p:cNvSpPr>
            <a:spLocks xmlns:a="http://schemas.openxmlformats.org/drawingml/2006/main" noGrp="1"/>
          </p:cNvSpPr>
          <p:nvPr/>
        </p:nvSpPr>
        <p:spPr>
          <a:xfrm xmlns:a="http://schemas.openxmlformats.org/drawingml/2006/main">
            <a:off x="6263640" y="1371600"/>
            <a:ext cx="224028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a:solidFill>
                  <a:srgbClr val="F1F5F9"/>
                </a:solidFill>
                <a:latin typeface="Calibri"/>
                <a:ea typeface="Calibri"/>
                <a:cs typeface="Calibri"/>
              </a:rPr>
              <a:t>NSGA-II search and incident prediction come next</a:t>
            </a:r>
            <a:endParaRPr sz="1500"/>
          </a:p>
        </p:txBody>
      </p:sp>
      <p:sp>
        <p:nvSpPr>
          <p:cNvPr id="14" name="Shape 11">
            <a:extLst xmlns:a="http://schemas.openxmlformats.org/drawingml/2006/main">
              <a:ext uri="{FF2B5EF4-FFF2-40B4-BE49-F238E27FC236}">
                <a16:creationId xmlns:a16="http://schemas.microsoft.com/office/drawing/2014/main" id="{AE0BB020-319B-4C7D-8C15-A87462224B02}"/>
              </a:ext>
            </a:extLst>
          </p:cNvPr>
          <p:cNvSpPr>
            <a:spLocks xmlns:a="http://schemas.openxmlformats.org/drawingml/2006/main" noGrp="1"/>
          </p:cNvSpPr>
          <p:nvPr/>
        </p:nvSpPr>
        <p:spPr>
          <a:xfrm xmlns:a="http://schemas.openxmlformats.org/drawingml/2006/main">
            <a:off x="6263640" y="2788920"/>
            <a:ext cx="1188720" cy="274320"/>
          </a:xfrm>
          <a:prstGeom xmlns:a="http://schemas.openxmlformats.org/drawingml/2006/main" prst="roundRect">
            <a:avLst>
              <a:gd name="adj" fmla="val 40000"/>
            </a:avLst>
          </a:prstGeom>
          <a:solidFill xmlns:a="http://schemas.openxmlformats.org/drawingml/2006/main">
            <a:srgbClr val="FBBF24"/>
          </a:solidFill>
          <a:ln xmlns:a="http://schemas.openxmlformats.org/drawingml/2006/main" w="12700">
            <a:solidFill>
              <a:srgbClr val="FBBF24"/>
            </a:solidFill>
            <a:prstDash val="solid"/>
          </a:ln>
        </p:spPr>
      </p:sp>
      <p:sp>
        <p:nvSpPr>
          <p:cNvPr id="15" name="Text 12">
            <a:extLst xmlns:a="http://schemas.openxmlformats.org/drawingml/2006/main">
              <a:ext uri="{FF2B5EF4-FFF2-40B4-BE49-F238E27FC236}">
                <a16:creationId xmlns:a16="http://schemas.microsoft.com/office/drawing/2014/main" id="{F3C28D4E-C6A5-4FC9-841F-CBD7DE99D05E}"/>
              </a:ext>
            </a:extLst>
          </p:cNvPr>
          <p:cNvSpPr>
            <a:spLocks xmlns:a="http://schemas.openxmlformats.org/drawingml/2006/main" noGrp="1"/>
          </p:cNvSpPr>
          <p:nvPr/>
        </p:nvSpPr>
        <p:spPr>
          <a:xfrm xmlns:a="http://schemas.openxmlformats.org/drawingml/2006/main">
            <a:off x="6263640" y="2788920"/>
            <a:ext cx="11887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0F172A"/>
                </a:solidFill>
                <a:latin typeface="Calibri"/>
                <a:ea typeface="Calibri"/>
                <a:cs typeface="Calibri"/>
              </a:rPr>
              <a:t>Planned</a:t>
            </a:r>
            <a:endParaRPr sz="1100"/>
          </a:p>
        </p:txBody>
      </p:sp>
      <p:sp>
        <p:nvSpPr>
          <p:cNvPr id="16" name="Text 13">
            <a:extLst xmlns:a="http://schemas.openxmlformats.org/drawingml/2006/main">
              <a:ext uri="{FF2B5EF4-FFF2-40B4-BE49-F238E27FC236}">
                <a16:creationId xmlns:a16="http://schemas.microsoft.com/office/drawing/2014/main" id="{B56A825D-7BD4-4BFA-B569-31C1B2AD9534}"/>
              </a:ext>
            </a:extLst>
          </p:cNvPr>
          <p:cNvSpPr>
            <a:spLocks xmlns:a="http://schemas.openxmlformats.org/drawingml/2006/main" noGrp="1"/>
          </p:cNvSpPr>
          <p:nvPr/>
        </p:nvSpPr>
        <p:spPr>
          <a:xfrm xmlns:a="http://schemas.openxmlformats.org/drawingml/2006/main">
            <a:off x="457200" y="3566160"/>
            <a:ext cx="822960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4000" b="1">
                <a:solidFill>
                  <a:srgbClr val="38BDF8"/>
                </a:solidFill>
                <a:latin typeface="Calibri"/>
                <a:ea typeface="Calibri"/>
                <a:cs typeface="Calibri"/>
              </a:rPr>
              <a:t>Questions?</a:t>
            </a:r>
            <a:endParaRPr sz="4000"/>
          </a:p>
        </p:txBody>
      </p:sp>
      <p:sp>
        <p:nvSpPr>
          <p:cNvPr id="17" name="Text 14">
            <a:extLst xmlns:a="http://schemas.openxmlformats.org/drawingml/2006/main">
              <a:ext uri="{FF2B5EF4-FFF2-40B4-BE49-F238E27FC236}">
                <a16:creationId xmlns:a16="http://schemas.microsoft.com/office/drawing/2014/main" id="{0730EB52-92FB-4ACF-9592-2498FED69C8C}"/>
              </a:ext>
            </a:extLst>
          </p:cNvPr>
          <p:cNvSpPr>
            <a:spLocks xmlns:a="http://schemas.openxmlformats.org/drawingml/2006/main" noGrp="1"/>
          </p:cNvSpPr>
          <p:nvPr/>
        </p:nvSpPr>
        <p:spPr>
          <a:xfrm xmlns:a="http://schemas.openxmlformats.org/drawingml/2006/main">
            <a:off x="457200" y="4389120"/>
            <a:ext cx="82296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300">
                <a:solidFill>
                  <a:srgbClr val="94A3B8"/>
                </a:solidFill>
                <a:latin typeface="Calibri"/>
                <a:ea typeface="Calibri"/>
                <a:cs typeface="Calibri"/>
              </a:rPr>
              <a:t/>
            </a:r>
            <a:endParaRPr sz="1300"/>
          </a:p>
        </p:txBody>
      </p:sp>
    </p:spTree>
    <p:extLst>
      <p:ext uri="{BB962C8B-B14F-4D97-AF65-F5344CB8AC3E}">
        <p14:creationId xmlns:p14="http://schemas.microsoft.com/office/powerpoint/2010/main" val="700594916"/>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2026-09-30T08:43:24.2910000Z</dcterms:created>
  <dcterms:modified xsi:type="dcterms:W3CDTF">2026-09-30T08:43:24.2910000Z</dcterms:modified>
</coreProperties>
</file>